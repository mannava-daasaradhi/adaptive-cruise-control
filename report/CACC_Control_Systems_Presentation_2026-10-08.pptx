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97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554480" cy="508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F253F"/>
                </a:solidFill>
                <a:latin typeface="Calibri"/>
              </a:rPr>
              <a:t>Selection of Time Headway for String-Stable CACC
under Noisy V2V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6148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B6EA8"/>
                </a:solidFill>
                <a:latin typeface="Calibri"/>
              </a:rPr>
              <a:t>The base paper reproduced to its printed digits, then extended — validated across three independent simulation backends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639312"/>
            <a:ext cx="11185855" cy="12700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0"/>
            <a:ext cx="10972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53F"/>
                </a:solidFill>
                <a:latin typeface="Calibri"/>
              </a:rPr>
              <a:t>Control Systems — Project Presentation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80" b="0" i="0">
                <a:solidFill>
                  <a:srgbClr val="1F2428"/>
                </a:solidFill>
                <a:latin typeface="Calibri"/>
              </a:rPr>
              <a:t>Base paper:  G. Ma, P. R. Pagilla, S. Darbha, “Selection of Time Headway in Connected and Autonomous Vehicle Platoons Under Noisy V2V Communication,”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80" b="0" i="0">
                <a:solidFill>
                  <a:srgbClr val="1F2428"/>
                </a:solidFill>
                <a:latin typeface="Calibri"/>
              </a:rPr>
              <a:t>IEEE Transactions on Intelligent Transportation Systems, vol. 26, no. 1, pp. 1029–1038, January 2025.   doi: 10.1109/TITS.2024.3498701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80" b="0" i="0">
                <a:solidFill>
                  <a:srgbClr val="45505B"/>
                </a:solidFill>
                <a:latin typeface="Calibri"/>
              </a:rPr>
              <a:t>Backends:  Python scientific core  ·  ROS 2 distributed (one process per vehicle)  ·  MATLAB / Simulink block model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80" b="0" i="0">
                <a:solidFill>
                  <a:srgbClr val="45505B"/>
                </a:solidFill>
                <a:latin typeface="Calibri"/>
              </a:rPr>
              <a:t>Status:  reproduced to the paper's printed digits  ·  197 tests green  ·  Monte-Carlo certification run CERTIFIED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97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554480" cy="508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7C66"/>
                </a:solidFill>
                <a:latin typeface="Calibri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F253F"/>
                </a:solidFill>
                <a:latin typeface="Calibri"/>
              </a:rPr>
              <a:t>Project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57984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B6EA8"/>
                </a:solidFill>
                <a:latin typeface="Calibri"/>
              </a:rPr>
              <a:t>Control Systems — Selection of Time Headway for String-Stable CACC under Noisy V2V Communication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24912"/>
            <a:ext cx="11185855" cy="12700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999232"/>
            <a:ext cx="5410047" cy="1097280"/>
          </a:xfrm>
          <a:prstGeom prst="rect">
            <a:avLst/>
          </a:prstGeom>
          <a:solidFill>
            <a:srgbClr val="F1F4F8"/>
          </a:solidFill>
          <a:ln w="9525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999232"/>
            <a:ext cx="50800" cy="109728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200400"/>
            <a:ext cx="49528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53F"/>
                </a:solidFill>
                <a:latin typeface="Calibri"/>
              </a:rPr>
              <a:t>Mannav Daasaradhi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657600"/>
            <a:ext cx="495284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5505B"/>
                </a:solidFill>
                <a:latin typeface="Consolas"/>
              </a:rPr>
              <a:t>cb.ai.u4aid24030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999232"/>
            <a:ext cx="5410047" cy="1097280"/>
          </a:xfrm>
          <a:prstGeom prst="rect">
            <a:avLst/>
          </a:prstGeom>
          <a:solidFill>
            <a:srgbClr val="F1F4F8"/>
          </a:solidFill>
          <a:ln w="9525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2999232"/>
            <a:ext cx="50800" cy="109728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3200400"/>
            <a:ext cx="49528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53F"/>
                </a:solidFill>
                <a:latin typeface="Calibri"/>
              </a:rPr>
              <a:t>Manikanta Koushik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657600"/>
            <a:ext cx="495284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5505B"/>
                </a:solidFill>
                <a:latin typeface="Consolas"/>
              </a:rPr>
              <a:t>cb.ai.u4aid24037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34256"/>
            <a:ext cx="5410047" cy="1097280"/>
          </a:xfrm>
          <a:prstGeom prst="rect">
            <a:avLst/>
          </a:prstGeom>
          <a:solidFill>
            <a:srgbClr val="F1F4F8"/>
          </a:solidFill>
          <a:ln w="9525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334256"/>
            <a:ext cx="50800" cy="109728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535424"/>
            <a:ext cx="49528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53F"/>
                </a:solidFill>
                <a:latin typeface="Calibri"/>
              </a:rPr>
              <a:t>Prajith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992624"/>
            <a:ext cx="495284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5505B"/>
                </a:solidFill>
                <a:latin typeface="Consolas"/>
              </a:rPr>
              <a:t>cb.ai.u4aid24039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4334256"/>
            <a:ext cx="5410047" cy="1097280"/>
          </a:xfrm>
          <a:prstGeom prst="rect">
            <a:avLst/>
          </a:prstGeom>
          <a:solidFill>
            <a:srgbClr val="F1F4F8"/>
          </a:solidFill>
          <a:ln w="9525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4334256"/>
            <a:ext cx="50800" cy="109728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4759" y="4535424"/>
            <a:ext cx="49528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253F"/>
                </a:solidFill>
                <a:latin typeface="Calibri"/>
              </a:rPr>
              <a:t>Sakthi Charukesh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759" y="4992624"/>
            <a:ext cx="495284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5505B"/>
                </a:solidFill>
                <a:latin typeface="Consolas"/>
              </a:rPr>
              <a:t>cb.ai.u4aid24049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3387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80" b="0" i="0">
                <a:solidFill>
                  <a:srgbClr val="45505B"/>
                </a:solidFill>
                <a:latin typeface="Calibri"/>
              </a:rPr>
              <a:t>Base paper reproduced to its printed digits, then extended — validated across the Python, ROS 2 and MATLAB / Simulink backends.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Problem statement — the physical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5410047" cy="384048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62456"/>
            <a:ext cx="52271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PLATOONING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410047" cy="4181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F253F"/>
                </a:solidFill>
                <a:latin typeface="Calibri"/>
              </a:rPr>
              <a:t>▪  Highway capacity is spacing-limited, not speed-limited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0" i="0">
                <a:solidFill>
                  <a:srgbClr val="1F2428"/>
                </a:solidFill>
                <a:latin typeface="Calibri"/>
              </a:rPr>
              <a:t>–  capacity ≈ v / (L + r + h·v) vehicles per lane per second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0" i="0">
                <a:solidFill>
                  <a:srgbClr val="1F2428"/>
                </a:solidFill>
                <a:latin typeface="Calibri"/>
              </a:rPr>
              <a:t>–  at v = 25 m/s: every 0.1 s of headway costs 2.5 m per vehicle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0" i="0">
                <a:solidFill>
                  <a:srgbClr val="1F2428"/>
                </a:solidFill>
                <a:latin typeface="Calibri"/>
              </a:rPr>
              <a:t>–  humans need h ≈ 1.5–2 s; standard ACC still needs h ≥ 1 s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F253F"/>
                </a:solidFill>
                <a:latin typeface="Calibri"/>
              </a:rPr>
              <a:t>▪  Two failure modes — only one is obvious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0" i="0">
                <a:solidFill>
                  <a:srgbClr val="1F2428"/>
                </a:solidFill>
                <a:latin typeface="Calibri"/>
              </a:rPr>
              <a:t>–  individual: does vehicle i track its predecessor? Solved by any stable feedback loop.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1" i="0">
                <a:solidFill>
                  <a:srgbClr val="A82B2B"/>
                </a:solidFill>
                <a:latin typeface="Calibri"/>
              </a:rPr>
              <a:t>–  STRING stability: does a disturbance GROW as it travels backwards down the platoon?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F253F"/>
                </a:solidFill>
                <a:latin typeface="Calibri"/>
              </a:rPr>
              <a:t>▪  String instability is what phantom traffic jams are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0" i="0">
                <a:solidFill>
                  <a:srgbClr val="1F2428"/>
                </a:solidFill>
                <a:latin typeface="Calibri"/>
              </a:rPr>
              <a:t>–  growth is geometric, gᴺ: a per-hop gain g = 1.0035 is invisible over 11 vehicles (1.039×) and a factor 2 over 200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1" i="0">
                <a:solidFill>
                  <a:srgbClr val="A82B2B"/>
                </a:solidFill>
                <a:latin typeface="Calibri"/>
              </a:rPr>
              <a:t>–  nothing in a 200 s time trace reveals it — the verdict must be frequency-domain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1298448"/>
            <a:ext cx="5410047" cy="384048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8455" y="1362456"/>
            <a:ext cx="52271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V2V CHANGES 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828800"/>
            <a:ext cx="5410047" cy="4181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F253F"/>
                </a:solidFill>
                <a:latin typeface="Calibri"/>
              </a:rPr>
              <a:t>▪  Radar alone cannot close the gap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0" i="0">
                <a:solidFill>
                  <a:srgbClr val="1F2428"/>
                </a:solidFill>
                <a:latin typeface="Calibri"/>
              </a:rPr>
              <a:t>–  predecessor-following at CONSTANT SPACING is provably string-unstable: the double integrator forces sup|Γ| &gt; 1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0" i="0">
                <a:solidFill>
                  <a:srgbClr val="1F2428"/>
                </a:solidFill>
                <a:latin typeface="Calibri"/>
              </a:rPr>
              <a:t>–  constant time headway d = r + h·v fixes it — but the price is exactly the road space we wanted back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F253F"/>
                </a:solidFill>
                <a:latin typeface="Calibri"/>
              </a:rPr>
              <a:t>▪  V2V feedforward is the lever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0" i="0">
                <a:solidFill>
                  <a:srgbClr val="1F2428"/>
                </a:solidFill>
                <a:latin typeface="Calibri"/>
              </a:rPr>
              <a:t>–  broadcasting the predecessor's ACCELERATION lets the follower act BEFORE the gap changes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1" i="0">
                <a:solidFill>
                  <a:srgbClr val="0E7C66"/>
                </a:solidFill>
                <a:latin typeface="Calibri"/>
              </a:rPr>
              <a:t>–  in this model it halves the headway floor: 2τ₀ → τ₀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F253F"/>
                </a:solidFill>
                <a:latin typeface="Calibri"/>
              </a:rPr>
              <a:t>▪  …but the lever is a radio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1" i="0">
                <a:solidFill>
                  <a:srgbClr val="A82B2B"/>
                </a:solidFill>
                <a:latin typeface="Calibri"/>
              </a:rPr>
              <a:t>–  the one signal CACC adds over ACC is the one that travels over an imperfect channel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270" b="1" i="0">
                <a:solidFill>
                  <a:srgbClr val="A82B2B"/>
                </a:solidFill>
                <a:latin typeface="Calibri"/>
              </a:rPr>
              <a:t>–  design for a clean channel, deploy on a dirty one → SILENT string instability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10656"/>
            <a:ext cx="11185855" cy="353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A 12-vehicle platoon at h = 0.95 s occupies 345 m; at h = 0.88 s it occupies 324 m — 1.75 m per vehicle, ≈6 % more 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Problem statement — the research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A82B2B"/>
                </a:solidFill>
                <a:latin typeface="Calibri"/>
              </a:rPr>
              <a:t>From “does the paper work?” to “would it survive deployment?”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85855" cy="444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480" b="1" i="0">
                <a:solidFill>
                  <a:srgbClr val="0F253F"/>
                </a:solidFill>
                <a:latin typeface="Calibri"/>
              </a:rPr>
              <a:t>THE QUESTION THE BASE PAPER ASKS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400" b="1" i="0">
                <a:solidFill>
                  <a:srgbClr val="A82B2B"/>
                </a:solidFill>
                <a:latin typeface="Calibri"/>
              </a:rPr>
              <a:t>▪  Given a signal-to-noise ratio ρ on the V2V link carrying the predecessor's acceleration, what is the SMALLEST time headway h</a:t>
            </a:r>
            <a:r>
              <a:rPr sz="1092" b="1" i="0" baseline="-21000">
                <a:solidFill>
                  <a:srgbClr val="A82B2B"/>
                </a:solidFill>
                <a:latin typeface="Calibri"/>
              </a:rPr>
              <a:t>w</a:t>
            </a:r>
            <a:r>
              <a:rPr sz="1400" b="1" i="0">
                <a:solidFill>
                  <a:srgbClr val="A82B2B"/>
                </a:solidFill>
                <a:latin typeface="Calibri"/>
              </a:rPr>
              <a:t> at which the platoon is still GUARANTEED string stable — for every admissible channel realisation and every vehicle lag τ ∈ (0, τ₀] ?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400" b="0" i="0">
                <a:solidFill>
                  <a:srgbClr val="1F2428"/>
                </a:solidFill>
                <a:latin typeface="Calibri"/>
              </a:rPr>
              <a:t>▪  Its answer is a closed form: the bound h</a:t>
            </a:r>
            <a:r>
              <a:rPr sz="1092" b="0" i="0" baseline="-21000">
                <a:solidFill>
                  <a:srgbClr val="1F2428"/>
                </a:solidFill>
                <a:latin typeface="Calibri"/>
              </a:rPr>
              <a:t>w,lb</a:t>
            </a:r>
            <a:r>
              <a:rPr sz="1400" b="0" i="0">
                <a:solidFill>
                  <a:srgbClr val="1F2428"/>
                </a:solidFill>
                <a:latin typeface="Calibri"/>
              </a:rPr>
              <a:t>(k</a:t>
            </a:r>
            <a:r>
              <a:rPr sz="1092" b="0" i="0" baseline="-21000">
                <a:solidFill>
                  <a:srgbClr val="1F2428"/>
                </a:solidFill>
                <a:latin typeface="Calibri"/>
              </a:rPr>
              <a:t>a</a:t>
            </a:r>
            <a:r>
              <a:rPr sz="1400" b="0" i="0">
                <a:solidFill>
                  <a:srgbClr val="1F2428"/>
                </a:solidFill>
                <a:latin typeface="Calibri"/>
              </a:rPr>
              <a:t>, ρ), the feedforward gain k</a:t>
            </a:r>
            <a:r>
              <a:rPr sz="1092" b="0" i="0" baseline="-21000">
                <a:solidFill>
                  <a:srgbClr val="1F2428"/>
                </a:solidFill>
                <a:latin typeface="Calibri"/>
              </a:rPr>
              <a:t>a</a:t>
            </a:r>
            <a:r>
              <a:rPr sz="1400" b="0" i="0">
                <a:solidFill>
                  <a:srgbClr val="1F2428"/>
                </a:solidFill>
                <a:latin typeface="Calibri"/>
              </a:rPr>
              <a:t>* that minimises it, and the resulting minimum h*</a:t>
            </a:r>
            <a:r>
              <a:rPr sz="1092" b="0" i="0" baseline="-21000">
                <a:solidFill>
                  <a:srgbClr val="1F2428"/>
                </a:solidFill>
                <a:latin typeface="Calibri"/>
              </a:rPr>
              <a:t>w,lb</a:t>
            </a:r>
            <a:r>
              <a:rPr sz="1400" b="0" i="0">
                <a:solidFill>
                  <a:srgbClr val="1F2428"/>
                </a:solidFill>
                <a:latin typeface="Calibri"/>
              </a:rPr>
              <a:t>.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80" b="1" i="0">
                <a:solidFill>
                  <a:srgbClr val="0F253F"/>
                </a:solidFill>
                <a:latin typeface="Calibri"/>
              </a:rPr>
              <a:t>WHAT ITS ANSWER ASSUMES — each assumption is a deployment gap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320" b="0" i="0">
                <a:solidFill>
                  <a:srgbClr val="1F2428"/>
                </a:solidFill>
                <a:latin typeface="Calibri"/>
              </a:rPr>
              <a:t>–  channel statistics are TIME-INVARIANT and known at design time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320" b="0" i="0">
                <a:solidFill>
                  <a:srgbClr val="1F2428"/>
                </a:solidFill>
                <a:latin typeface="Calibri"/>
              </a:rPr>
              <a:t>–  the guarantee holds in the MEAN sense and is BINARY (pass / fail)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320" b="0" i="0">
                <a:solidFill>
                  <a:srgbClr val="1F2428"/>
                </a:solidFill>
                <a:latin typeface="Calibri"/>
              </a:rPr>
              <a:t>–  there is NO communication delay and NO packet loss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320" b="0" i="0">
                <a:solidFill>
                  <a:srgbClr val="1F2428"/>
                </a:solidFill>
                <a:latin typeface="Calibri"/>
              </a:rPr>
              <a:t>–  every link is HONEST; only the radio is noisy, the radar is clean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320" b="0" i="0">
                <a:solidFill>
                  <a:srgbClr val="1F2428"/>
                </a:solidFill>
                <a:latin typeface="Calibri"/>
              </a:rPr>
              <a:t>–  the gains are chosen ONCE, offline, for one value of ρ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80" b="1" i="0">
                <a:solidFill>
                  <a:srgbClr val="0F253F"/>
                </a:solidFill>
                <a:latin typeface="Calibri"/>
              </a:rPr>
              <a:t>THE THREE QUESTIONS WE ADD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400" b="1" i="0">
                <a:solidFill>
                  <a:srgbClr val="0E7C66"/>
                </a:solidFill>
                <a:latin typeface="Calibri"/>
              </a:rPr>
              <a:t>▪  1.  Real channels vary. What happens when ρ changes DURING operation, and can the platoon ESTIMATE it and adapt online?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400" b="1" i="0">
                <a:solidFill>
                  <a:srgbClr val="0E7C66"/>
                </a:solidFill>
                <a:latin typeface="Calibri"/>
              </a:rPr>
              <a:t>▪  2.  Can a binary worst-case verdict be made QUANTITATIVE — a calibrated probability of exceedance instead of a bound paying for 10⁻⁶ events?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400" b="1" i="0">
                <a:solidFill>
                  <a:srgbClr val="0E7C66"/>
                </a:solidFill>
                <a:latin typeface="Calibri"/>
              </a:rPr>
              <a:t>▪  3.  What if a link LIES? A predecessor-following chain has no redundancy, so consensus-style filtering cannot be applied.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12536"/>
            <a:ext cx="11185855" cy="55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Success criteria: reproduce the paper exactly · quantify its deployment gaps · build and validate the fix · certify on a Monte-Carlo harness · agree across three independent backends.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50" b="1" i="0">
                <a:solidFill>
                  <a:srgbClr val="0F253F"/>
                </a:solidFill>
                <a:latin typeface="Calibri"/>
              </a:rPr>
              <a:t>The decoder ring — every symbol in the deck, in plain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A82B2B"/>
                </a:solidFill>
                <a:latin typeface="Calibri"/>
              </a:rPr>
              <a:t>Read this page once and every equation later in the deck is already introduced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Decoder 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847663" cy="270256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39596"/>
            <a:ext cx="1737935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Symbol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583" y="1298448"/>
            <a:ext cx="1747789" cy="270256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4591" y="1339596"/>
            <a:ext cx="1638061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8372" y="1298448"/>
            <a:ext cx="6142232" cy="270256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2380" y="1339596"/>
            <a:ext cx="6032504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What it actually means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0604" y="1298448"/>
            <a:ext cx="1448168" cy="270256"/>
          </a:xfrm>
          <a:prstGeom prst="rect">
            <a:avLst/>
          </a:prstGeom>
          <a:solidFill>
            <a:srgbClr val="A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4612" y="1339596"/>
            <a:ext cx="1338440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Value 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568704"/>
            <a:ext cx="1847663" cy="4353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605280"/>
            <a:ext cx="1737935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h</a:t>
            </a:r>
            <a:r>
              <a:rPr sz="748" b="1" i="0" baseline="-21000">
                <a:solidFill>
                  <a:srgbClr val="0F253F"/>
                </a:solidFill>
                <a:latin typeface="Calibri"/>
              </a:rPr>
              <a:t>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50583" y="1568704"/>
            <a:ext cx="1747789" cy="4353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4591" y="1605280"/>
            <a:ext cx="1638061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time headway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98372" y="1568704"/>
            <a:ext cx="6142232" cy="4353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2380" y="1605280"/>
            <a:ext cx="6032504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SECONDS of gap you keep behind the car ahead. Multiply by speed to get metres. THE quantity this whole project is about.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0604" y="1568704"/>
            <a:ext cx="1448168" cy="4353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04612" y="1605280"/>
            <a:ext cx="1338440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E7C66"/>
                </a:solidFill>
                <a:latin typeface="Calibri"/>
              </a:rPr>
              <a:t>0.95 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004060"/>
            <a:ext cx="1847663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2040636"/>
            <a:ext cx="1737935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d = r + h</a:t>
            </a:r>
            <a:r>
              <a:rPr sz="748" b="1" i="0" baseline="-21000">
                <a:solidFill>
                  <a:srgbClr val="0F253F"/>
                </a:solidFill>
                <a:latin typeface="Calibri"/>
              </a:rPr>
              <a:t>w</a:t>
            </a:r>
            <a:r>
              <a:rPr sz="960" b="1" i="0">
                <a:solidFill>
                  <a:srgbClr val="0F253F"/>
                </a:solidFill>
                <a:latin typeface="Calibri"/>
              </a:rPr>
              <a:t>·v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583" y="2004060"/>
            <a:ext cx="1747789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14591" y="2040636"/>
            <a:ext cx="1638061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spacing policy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98372" y="2004060"/>
            <a:ext cx="6142232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2380" y="2040636"/>
            <a:ext cx="6032504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the gap you aim for: a fixed bumper distance plus h</a:t>
            </a:r>
            <a:r>
              <a:rPr sz="748" b="0" i="0" baseline="-21000">
                <a:solidFill>
                  <a:srgbClr val="1F2428"/>
                </a:solidFill>
                <a:latin typeface="Calibri"/>
              </a:rPr>
              <a:t>w</a:t>
            </a:r>
            <a:r>
              <a:rPr sz="960" b="0" i="0">
                <a:solidFill>
                  <a:srgbClr val="1F2428"/>
                </a:solidFill>
                <a:latin typeface="Calibri"/>
              </a:rPr>
              <a:t> seconds of travel — so the faster you go, the more room you leave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40604" y="2004060"/>
            <a:ext cx="1448168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04612" y="2040636"/>
            <a:ext cx="1338440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r → d = 5 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439416"/>
            <a:ext cx="1847663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2475992"/>
            <a:ext cx="1737935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δ</a:t>
            </a:r>
            <a:r>
              <a:rPr sz="748" b="1" i="0" baseline="-21000">
                <a:solidFill>
                  <a:srgbClr val="0F253F"/>
                </a:solidFill>
                <a:latin typeface="Calibri"/>
              </a:rPr>
              <a:t>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50583" y="2439416"/>
            <a:ext cx="1747789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14591" y="2475992"/>
            <a:ext cx="1638061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spacing error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98372" y="2439416"/>
            <a:ext cx="6142232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2380" y="2475992"/>
            <a:ext cx="6032504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how far car i actually is from that target gap. Drive δ to zero and the gap is right at every speed.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40604" y="2439416"/>
            <a:ext cx="1448168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04612" y="2475992"/>
            <a:ext cx="1338440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metres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2709672"/>
            <a:ext cx="1847663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2746248"/>
            <a:ext cx="1737935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50583" y="2709672"/>
            <a:ext cx="1747789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14591" y="2746248"/>
            <a:ext cx="1638061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actuator lag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98372" y="2709672"/>
            <a:ext cx="6142232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62380" y="2746248"/>
            <a:ext cx="6032504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how sluggish the engine/brake loop is — you ask for an acceleration, you get it about τ seconds later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0604" y="2709672"/>
            <a:ext cx="1448168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04612" y="2746248"/>
            <a:ext cx="1338440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≤ τ₀ = 0.5 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2979928"/>
            <a:ext cx="1847663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3016504"/>
            <a:ext cx="1737935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50583" y="2979928"/>
            <a:ext cx="1747789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14591" y="3016504"/>
            <a:ext cx="1638061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channel SNR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98372" y="2979928"/>
            <a:ext cx="6142232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62380" y="3016504"/>
            <a:ext cx="6032504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radio quality. BIG ρ = clean radio, small ρ = noisy. Everything in the paper is a function of it.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40604" y="2979928"/>
            <a:ext cx="1448168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04612" y="3016504"/>
            <a:ext cx="1338440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5  (13.98 dB)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250184"/>
            <a:ext cx="1847663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" y="3286760"/>
            <a:ext cx="1737935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50583" y="3250184"/>
            <a:ext cx="1747789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14591" y="3286760"/>
            <a:ext cx="1638061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channel factor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98372" y="3250184"/>
            <a:ext cx="6142232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62380" y="3286760"/>
            <a:ext cx="6032504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the number the TRUE acceleration gets multiplied by in transit. w = 1 would be a perfect radio.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240604" y="3250184"/>
            <a:ext cx="1448168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04612" y="3286760"/>
            <a:ext cx="1338440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1 ± 1/ρ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3520440"/>
            <a:ext cx="1847663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3557016"/>
            <a:ext cx="1737935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k</a:t>
            </a:r>
            <a:r>
              <a:rPr sz="748" b="1" i="0" baseline="-21000">
                <a:solidFill>
                  <a:srgbClr val="0F253F"/>
                </a:solidFill>
                <a:latin typeface="Calibri"/>
              </a:rP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350583" y="3520440"/>
            <a:ext cx="1747789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414591" y="3557016"/>
            <a:ext cx="1638061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feedforward gain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98372" y="3520440"/>
            <a:ext cx="6142232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62380" y="3557016"/>
            <a:ext cx="6032504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how hard you act on what the RADIO tells you the car ahead is doing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40604" y="3520440"/>
            <a:ext cx="1448168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304612" y="3557016"/>
            <a:ext cx="1338440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0.5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920" y="3790696"/>
            <a:ext cx="1847663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" y="3827272"/>
            <a:ext cx="1737935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k</a:t>
            </a:r>
            <a:r>
              <a:rPr sz="748" b="1" i="0" baseline="-21000">
                <a:solidFill>
                  <a:srgbClr val="0F253F"/>
                </a:solidFill>
                <a:latin typeface="Calibri"/>
              </a:rPr>
              <a:t>v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50583" y="3790696"/>
            <a:ext cx="1747789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414591" y="3827272"/>
            <a:ext cx="1638061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damping gain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98372" y="3790696"/>
            <a:ext cx="6142232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62380" y="3827272"/>
            <a:ext cx="6032504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how hard you act on the speed difference you SEE on radar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240604" y="3790696"/>
            <a:ext cx="1448168" cy="2702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04612" y="3827272"/>
            <a:ext cx="1338440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0.63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4060952"/>
            <a:ext cx="1847663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6928" y="4097528"/>
            <a:ext cx="1737935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k</a:t>
            </a:r>
            <a:r>
              <a:rPr sz="748" b="1" i="0" baseline="-21000">
                <a:solidFill>
                  <a:srgbClr val="0F253F"/>
                </a:solidFill>
                <a:latin typeface="Calibri"/>
              </a:rPr>
              <a:t>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350583" y="4060952"/>
            <a:ext cx="1747789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414591" y="4097528"/>
            <a:ext cx="1638061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spacing gain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098372" y="4060952"/>
            <a:ext cx="6142232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62380" y="4097528"/>
            <a:ext cx="6032504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how hard you act on the gap error you SEE on radar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240604" y="4060952"/>
            <a:ext cx="1448168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304612" y="4097528"/>
            <a:ext cx="1338440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0.009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2920" y="4331208"/>
            <a:ext cx="1847663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66928" y="4367784"/>
            <a:ext cx="1737935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γ = k</a:t>
            </a:r>
            <a:r>
              <a:rPr sz="748" b="1" i="0" baseline="-21000">
                <a:solidFill>
                  <a:srgbClr val="0F253F"/>
                </a:solidFill>
                <a:latin typeface="Calibri"/>
              </a:rPr>
              <a:t>v</a:t>
            </a:r>
            <a:r>
              <a:rPr sz="960" b="1" i="0">
                <a:solidFill>
                  <a:srgbClr val="0F253F"/>
                </a:solidFill>
                <a:latin typeface="Calibri"/>
              </a:rPr>
              <a:t> + h</a:t>
            </a:r>
            <a:r>
              <a:rPr sz="748" b="1" i="0" baseline="-21000">
                <a:solidFill>
                  <a:srgbClr val="0F253F"/>
                </a:solidFill>
                <a:latin typeface="Calibri"/>
              </a:rPr>
              <a:t>w</a:t>
            </a:r>
            <a:r>
              <a:rPr sz="960" b="1" i="0">
                <a:solidFill>
                  <a:srgbClr val="0F253F"/>
                </a:solidFill>
                <a:latin typeface="Calibri"/>
              </a:rPr>
              <a:t> k</a:t>
            </a:r>
            <a:r>
              <a:rPr sz="748" b="1" i="0" baseline="-21000">
                <a:solidFill>
                  <a:srgbClr val="0F253F"/>
                </a:solidFill>
                <a:latin typeface="Calibri"/>
              </a:rPr>
              <a:t>p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350583" y="4331208"/>
            <a:ext cx="1747789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414591" y="4367784"/>
            <a:ext cx="1638061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combined authority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098372" y="4331208"/>
            <a:ext cx="6142232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62380" y="4367784"/>
            <a:ext cx="6032504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total feedback strength. THE ONE PLACE headway enters the maths — remember this and slide 10 makes sense.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240604" y="4331208"/>
            <a:ext cx="1448168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304612" y="4367784"/>
            <a:ext cx="1338440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4766564"/>
            <a:ext cx="1847663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66928" y="4803140"/>
            <a:ext cx="1737935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H̃(s)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50583" y="4766564"/>
            <a:ext cx="1747789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414591" y="4803140"/>
            <a:ext cx="1638061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error propagation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098372" y="4766564"/>
            <a:ext cx="6142232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62380" y="4803140"/>
            <a:ext cx="6032504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the filter that turns the car-ahead's gap error into THIS car's gap error. One filter, every hop.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240604" y="4766564"/>
            <a:ext cx="1448168" cy="2702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304612" y="4803140"/>
            <a:ext cx="1338440" cy="270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02920" y="5036820"/>
            <a:ext cx="1847663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66928" y="5073396"/>
            <a:ext cx="1737935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F253F"/>
                </a:solidFill>
                <a:latin typeface="Calibri"/>
              </a:rPr>
              <a:t>‖H̃‖∞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350583" y="5036820"/>
            <a:ext cx="1747789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414591" y="5073396"/>
            <a:ext cx="1638061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peak gain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098372" y="5036820"/>
            <a:ext cx="6142232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162380" y="5073396"/>
            <a:ext cx="6032504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0" i="0">
                <a:solidFill>
                  <a:srgbClr val="1F2428"/>
                </a:solidFill>
                <a:latin typeface="Calibri"/>
              </a:rPr>
              <a:t>the WORST amplification that filter does, over every frequency. The single number the verdict is taken on.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240604" y="5036820"/>
            <a:ext cx="1448168" cy="4353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304612" y="5073396"/>
            <a:ext cx="1338440" cy="435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960" b="1" i="0">
                <a:solidFill>
                  <a:srgbClr val="0E7C66"/>
                </a:solidFill>
                <a:latin typeface="Calibri"/>
              </a:rPr>
              <a:t>must be ≤ 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02920" y="5600192"/>
            <a:ext cx="11185855" cy="55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Rule of thumb for the whole deck: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a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 is the RADIO gain,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v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 and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p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 are the RADAR gains, h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w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 is the price in road space, and ρ is how much you can trust the radio today.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Base paper — the car, and the gap it aims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1B6EA8"/>
                </a:solidFill>
                <a:latin typeface="Calibri"/>
              </a:rPr>
              <a:t>Eqs. (1) and (2) — the plant and the spacing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Base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1185855" cy="493979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38100" cy="493979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48740"/>
            <a:ext cx="10865815" cy="493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0E7C66"/>
                </a:solidFill>
                <a:latin typeface="Calibri"/>
              </a:rPr>
              <a:t>GOAL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0F253F"/>
                </a:solidFill>
                <a:latin typeface="Calibri"/>
              </a:rPr>
              <a:t>Two ideas before any control appears: a car cannot change speed instantly, and the gap it aims for grows with speed.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15871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02155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THE CAR — you ask for an acceleration, you get it late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" y="2163368"/>
            <a:ext cx="10801807" cy="467987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68" y="2163368"/>
            <a:ext cx="31750" cy="467987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" descr="eq_3b4848c852e5f5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236520"/>
            <a:ext cx="4672074" cy="3216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33272" y="2672503"/>
            <a:ext cx="10655503" cy="45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u is the acceleration you COMMAND, a is what the car actually delivers, and τ is the delay between them. τ is never known exactly — only that it is no worse than τ₀ = 0.5 s, which is why every guarantee must hold for a whole RANGE of τ.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74787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261071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THE GAP IT AIMS FOR — spacing error, eq. (2)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" y="3522284"/>
            <a:ext cx="10801807" cy="432974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" y="3522284"/>
            <a:ext cx="31750" cy="432974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eq_f43c33c5ecd1d5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95436"/>
            <a:ext cx="5361397" cy="28667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33272" y="3996406"/>
            <a:ext cx="10655503" cy="248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δ is how far this car is from where the time-headway policy says it should be. Push δ to zero and the gap is correct at any speed.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12536"/>
            <a:ext cx="11185855" cy="55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τ is the DOMINANT lag of the inner acceleration loop, not one component's time constant. A mixed fleet is absorbed by τ₀ = maxᵢ τᵢ, so a design certified on (0, τ₀] covers every vehicle below τ₀.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F253F"/>
                </a:solidFill>
                <a:latin typeface="Calibri"/>
              </a:rPr>
              <a:t>Base paper — the control law, and the radio that corrupts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1B6EA8"/>
                </a:solidFill>
                <a:latin typeface="Calibri"/>
              </a:rPr>
              <a:t>Eqs. (6) and (5) — N = 12 followers · τ₀ = 0.5 s · d = 5 m · ρ = 5 (13.98 dB) · v</a:t>
            </a:r>
            <a:r>
              <a:rPr sz="1092" b="0" i="1" baseline="-21000">
                <a:solidFill>
                  <a:srgbClr val="1B6EA8"/>
                </a:solidFill>
                <a:latin typeface="Calibri"/>
              </a:rPr>
              <a:t>ss</a:t>
            </a:r>
            <a:r>
              <a:rPr sz="1400" b="0" i="1">
                <a:solidFill>
                  <a:srgbClr val="1B6EA8"/>
                </a:solidFill>
                <a:latin typeface="Calibri"/>
              </a:rPr>
              <a:t> = 25 m/s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Base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12164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298448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THE CONTROL LAW — three terms, three information sources, eq. (6)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1559661"/>
            <a:ext cx="10801807" cy="835547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1559661"/>
            <a:ext cx="31750" cy="835547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eq_be7425a34c8c73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32813"/>
            <a:ext cx="5562723" cy="301988"/>
          </a:xfrm>
          <a:prstGeom prst="rect">
            <a:avLst/>
          </a:prstGeom>
        </p:spPr>
      </p:pic>
      <p:pic>
        <p:nvPicPr>
          <p:cNvPr id="13" name="Picture 12" descr="eq_cff16e3419efa9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035385"/>
            <a:ext cx="8551975" cy="2866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3272" y="2436356"/>
            <a:ext cx="10655503" cy="45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Left to right: act on what the car ahead is DOING, on the speed difference, and on the gap error. ONLY the first term travels over the radio — so only the first is corrupted. That asymmetry is the entire premise of the paper.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38640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024924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THE RADIO — the 16-bit multiplicative channel, eq. (5)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" y="3286137"/>
            <a:ext cx="10801807" cy="1387005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" y="3286137"/>
            <a:ext cx="31750" cy="1387005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eq_83ccf000b22199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359289"/>
            <a:ext cx="4319754" cy="783420"/>
          </a:xfrm>
          <a:prstGeom prst="rect">
            <a:avLst/>
          </a:prstGeom>
        </p:spPr>
      </p:pic>
      <p:pic>
        <p:nvPicPr>
          <p:cNvPr id="20" name="Picture 19" descr="eq_b889af59ac3f52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243293"/>
            <a:ext cx="5615243" cy="35669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33272" y="4714290"/>
            <a:ext cx="10655503" cy="654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The acceleration you RECEIVE is the true one multiplied by w. w is built from 16 random bits, so it can never stray further than 1/ρ away from 1 — it is BOUNDED, and that is the only reason a hard guarantee is possible at all. Note E[w] ≠ 1: the channel is optimistically biased by 4.8 %.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05703"/>
            <a:ext cx="11185855" cy="708558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505703"/>
            <a:ext cx="38100" cy="708558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555995"/>
            <a:ext cx="10865815" cy="7085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1B6EA8"/>
                </a:solidFill>
                <a:latin typeface="Calibri"/>
              </a:rPr>
              <a:t>WHAT THIS BUYS 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0F253F"/>
                </a:solidFill>
                <a:latin typeface="Calibri"/>
              </a:rPr>
              <a:t>A Gaussian noise model would have infinite tails, so NO finite headway could ever guarantee string stability. Bounded support is the only reason the deterministic theorem exists at 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50" b="1" i="0">
                <a:solidFill>
                  <a:srgbClr val="0F253F"/>
                </a:solidFill>
                <a:latin typeface="Calibri"/>
              </a:rPr>
              <a:t>Base paper — how errors travel, and the test they must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1B6EA8"/>
                </a:solidFill>
                <a:latin typeface="Calibri"/>
              </a:rPr>
              <a:t>Eqs. (14) and Definition 2 — why a 200-car question is really a one-car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Base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12164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298448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ONE FILTER GOVERNS EVERY HOP — eq. (14)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1559661"/>
            <a:ext cx="10801807" cy="1157231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1559661"/>
            <a:ext cx="31750" cy="1157231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eq_a59e7bc5fa3bd3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32813"/>
            <a:ext cx="5153506" cy="365450"/>
          </a:xfrm>
          <a:prstGeom prst="rect">
            <a:avLst/>
          </a:prstGeom>
        </p:spPr>
      </p:pic>
      <p:pic>
        <p:nvPicPr>
          <p:cNvPr id="13" name="Picture 12" descr="eq_f59affcce6fa4d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098847"/>
            <a:ext cx="2829504" cy="5448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3272" y="2758040"/>
            <a:ext cx="10655503" cy="45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Errors do not ADD down the platoon, they get MULTIPLIED by this one filter at every hop. Headway enters only through γ, and γ only in the bottom line — so headway can add damping, never gain. A 200-car question just became a one-car question.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60324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346608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THE TEST — robust string stability, Definition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" y="3607821"/>
            <a:ext cx="10801807" cy="503001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" y="3607821"/>
            <a:ext cx="31750" cy="503001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eq_7506e789068aeb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680973"/>
            <a:ext cx="5247604" cy="35669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33272" y="4151970"/>
            <a:ext cx="10655503" cy="45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No frequency may be amplified — for any actuator lag up to τ₀ and any channel the radio might hand you. Note it can never be BETTER than 1: at zero frequency the filter equals exactly 1, so the margin is zero by construction.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12536"/>
            <a:ext cx="11185855" cy="55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Gains MULTIPLY down a chain, so the per-hop gain is raised to the Nth power. A per-hop 1.0035 is 1.039× over 11 vehicles and a factor 2 over 200 — which is why the verdict is taken in the frequency domain and never off a time trace.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Base paper — the answer, and the best it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1B6EA8"/>
                </a:solidFill>
                <a:latin typeface="Calibri"/>
              </a:rPr>
              <a:t>Eqs. (14), (16)–(19) — the whole result set, each line said in words underneath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Base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12164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298448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THE ANSWER — the smallest headway that can be certified, eq. (17)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1559661"/>
            <a:ext cx="10801807" cy="62992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1559661"/>
            <a:ext cx="31750" cy="629923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eq_e15b86677f2e4b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32813"/>
            <a:ext cx="7151447" cy="4836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3272" y="2230732"/>
            <a:ext cx="10655503" cy="45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Given how clean the radio is (ρ) and how hard you lean on it (k</a:t>
            </a:r>
            <a:r>
              <a:rPr sz="943" b="1" i="0" baseline="-21000">
                <a:solidFill>
                  <a:srgbClr val="0E7C66"/>
                </a:solidFill>
                <a:latin typeface="Calibri"/>
              </a:rPr>
              <a:t>a</a:t>
            </a:r>
            <a:r>
              <a:rPr sz="1210" b="1" i="0">
                <a:solidFill>
                  <a:srgbClr val="0E7C66"/>
                </a:solidFill>
                <a:latin typeface="Calibri"/>
              </a:rPr>
              <a:t>), this is the shortest headway that can still be certified. Go below it and NO choice of the two radar gains can rescue you.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33016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819300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THE BEST YOU CAN DO — the optimum, eqs. (18) and (19)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" y="3080513"/>
            <a:ext cx="10801807" cy="689008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" y="3080513"/>
            <a:ext cx="31750" cy="689008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eq_d08d635b2f1b39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153665"/>
            <a:ext cx="5216967" cy="542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33272" y="3810669"/>
            <a:ext cx="10655503" cy="45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Trusting the radio more shortens the headway — until the noise it carries hurts more than the information helps. k</a:t>
            </a:r>
            <a:r>
              <a:rPr sz="943" b="1" i="0" baseline="-21000">
                <a:solidFill>
                  <a:srgbClr val="0E7C66"/>
                </a:solidFill>
                <a:latin typeface="Calibri"/>
              </a:rPr>
              <a:t>a</a:t>
            </a:r>
            <a:r>
              <a:rPr sz="1210" b="1" i="0">
                <a:solidFill>
                  <a:srgbClr val="0E7C66"/>
                </a:solidFill>
                <a:latin typeface="Calibri"/>
              </a:rPr>
              <a:t>* is that balance point. At ρ = 5 it is 0.3183, which buys 0.8727 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14416"/>
            <a:ext cx="1118585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At ρ = 5, τ₀ = 0.5 s the paper prints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a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 bound 0.8333, h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w,lb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(0.5) = 0.9375 s,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a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* = 0.3183 and h*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w,lb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 = 0.8727 s — all four reproduced to 0.00 %. The five numerical cases of §IV: 1 stable (h = 0.95) · 2 unstable (h = 0.65) · 3 at the optimum (h = 0.88) · 4 platoon length 345 m vs 324 m · 5 heterogeneous τᵢ.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Novelty, phase-wise — the seven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1B6EA8"/>
                </a:solidFill>
                <a:latin typeface="Calibri"/>
              </a:rPr>
              <a:t>★ = core research contribution   ★★ = the flagship extensions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Novelty &amp;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306758" cy="299148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39596"/>
            <a:ext cx="1197030" cy="2991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75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9678" y="1298448"/>
            <a:ext cx="3449843" cy="299148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3686" y="1339596"/>
            <a:ext cx="3340115" cy="2991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75" b="1" i="0">
                <a:solidFill>
                  <a:srgbClr val="FFFFFF"/>
                </a:solidFill>
                <a:latin typeface="Calibri"/>
              </a:rPr>
              <a:t>What it adds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9521" y="1298448"/>
            <a:ext cx="2090814" cy="299148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3529" y="1339596"/>
            <a:ext cx="1981086" cy="2991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75" b="1" i="0">
                <a:solidFill>
                  <a:srgbClr val="FFFFFF"/>
                </a:solidFill>
                <a:latin typeface="Calibri"/>
              </a:rPr>
              <a:t>Assumption removed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50335" y="1298448"/>
            <a:ext cx="3449843" cy="299148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4343" y="1339596"/>
            <a:ext cx="3340115" cy="2991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75" b="1" i="0">
                <a:solidFill>
                  <a:srgbClr val="FFFFFF"/>
                </a:solidFill>
                <a:latin typeface="Calibri"/>
              </a:rPr>
              <a:t>Key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178" y="1298448"/>
            <a:ext cx="888595" cy="299148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64186" y="1339596"/>
            <a:ext cx="778867" cy="2991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75" b="1" i="0">
                <a:solidFill>
                  <a:srgbClr val="FFFFFF"/>
                </a:solidFill>
                <a:latin typeface="Calibri"/>
              </a:rPr>
              <a:t>ADR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597596"/>
            <a:ext cx="1306758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1634172"/>
            <a:ext cx="1197030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F253F"/>
                </a:solidFill>
                <a:latin typeface="Calibri"/>
              </a:rPr>
              <a:t>0  Reproduce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09678" y="1597596"/>
            <a:ext cx="3449843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3686" y="1634172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Full re-implementation from the paper: CTHP law, 16-bit channel, RK4 platoon, frequency-domain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9521" y="1597596"/>
            <a:ext cx="2090814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23529" y="1634172"/>
            <a:ext cx="1981086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45505B"/>
                </a:solidFill>
                <a:latin typeface="Calibri"/>
              </a:rPr>
              <a:t>— (fidelity baseline)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50335" y="1597596"/>
            <a:ext cx="3449843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4343" y="1634172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E7C66"/>
                </a:solidFill>
                <a:latin typeface="Calibri"/>
              </a:rPr>
              <a:t>printed digits exact: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E7C66"/>
                </a:solidFill>
                <a:latin typeface="Calibri"/>
              </a:rPr>
              <a:t>0.9375 / 0.3183 / 0.8727 / 0.8333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00178" y="1597596"/>
            <a:ext cx="888595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64186" y="1634172"/>
            <a:ext cx="778867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D-001…07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284729"/>
            <a:ext cx="1306758" cy="49314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321305"/>
            <a:ext cx="1197030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F253F"/>
                </a:solidFill>
                <a:latin typeface="Calibri"/>
              </a:rPr>
              <a:t>1  Gap audit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09678" y="2284729"/>
            <a:ext cx="3449843" cy="49314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3686" y="2321305"/>
            <a:ext cx="3340115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V2V latency θ on the feedforward path + Bernoulli packet loss with ZOH, at FIXED case-A gains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59521" y="2284729"/>
            <a:ext cx="2090814" cy="49314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23529" y="2321305"/>
            <a:ext cx="1981086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“no delay”, “no packet loss”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50335" y="2284729"/>
            <a:ext cx="3449843" cy="49314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14343" y="2321305"/>
            <a:ext cx="3340115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B56B00"/>
                </a:solidFill>
                <a:latin typeface="Calibri"/>
              </a:rPr>
              <a:t>DELAY binds, not noise: only ≈0.2 s of budget at the paper's own design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00178" y="2284729"/>
            <a:ext cx="888595" cy="49314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64186" y="2321305"/>
            <a:ext cx="778867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D-008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777870"/>
            <a:ext cx="1306758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2814446"/>
            <a:ext cx="1197030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F253F"/>
                </a:solidFill>
                <a:latin typeface="Calibri"/>
              </a:rPr>
              <a:t>2  Distribute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09678" y="2777870"/>
            <a:ext cx="3449843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3686" y="2814446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One OS process per vehicle on ROS 2; wall-clock substepped integration; radar extrapolation by message 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59521" y="2777870"/>
            <a:ext cx="2090814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23529" y="2814446"/>
            <a:ext cx="1981086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“a monolithic simulator is enough”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50335" y="2777870"/>
            <a:ext cx="3449843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14343" y="2814446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E7C66"/>
                </a:solidFill>
                <a:latin typeface="Calibri"/>
              </a:rPr>
              <a:t>&lt; 2 % per-hop agreement with the offline core under real OS jitter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800178" y="2777870"/>
            <a:ext cx="888595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64186" y="2814446"/>
            <a:ext cx="778867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D-011…15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465003"/>
            <a:ext cx="1306758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3501579"/>
            <a:ext cx="1197030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F253F"/>
                </a:solidFill>
                <a:latin typeface="Calibri"/>
              </a:rPr>
              <a:t>3  Adapt  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09678" y="3465003"/>
            <a:ext cx="3449843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73686" y="3501579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Online SNR estimation ρ̂ from radar-vs-beacon residuals → rate-limited headway adaptation + timestamp predictor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9521" y="3465003"/>
            <a:ext cx="2090814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23529" y="3501579"/>
            <a:ext cx="1981086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“γ</a:t>
            </a:r>
            <a:r>
              <a:rPr sz="885" b="0" i="0" baseline="-21000">
                <a:solidFill>
                  <a:srgbClr val="1F2428"/>
                </a:solidFill>
                <a:latin typeface="Calibri"/>
              </a:rPr>
              <a:t>i,j</a:t>
            </a:r>
            <a:r>
              <a:rPr sz="1135" b="0" i="0">
                <a:solidFill>
                  <a:srgbClr val="1F2428"/>
                </a:solidFill>
                <a:latin typeface="Calibri"/>
              </a:rPr>
              <a:t> are time-invariant”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50335" y="3465003"/>
            <a:ext cx="3449843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14343" y="3501579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E7C66"/>
                </a:solidFill>
                <a:latin typeface="Calibri"/>
              </a:rPr>
              <a:t>ρ̂ median {10.4, 3.1, 10.7} vs true {10, 3, 10}; delay penalty flatlined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800178" y="3465003"/>
            <a:ext cx="888595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64186" y="3501579"/>
            <a:ext cx="778867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D-016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152136"/>
            <a:ext cx="1306758" cy="49314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4188712"/>
            <a:ext cx="1197030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F253F"/>
                </a:solidFill>
                <a:latin typeface="Calibri"/>
              </a:rPr>
              <a:t>4  Re-tune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09678" y="4152136"/>
            <a:ext cx="3449843" cy="49314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73686" y="4188712"/>
            <a:ext cx="3340115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Online gain scheduling: hold γ at 90 % of the (28a) ceiling for the estimated 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59521" y="4152136"/>
            <a:ext cx="2090814" cy="49314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23529" y="4188712"/>
            <a:ext cx="1981086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“gains are fixed once chosen”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50335" y="4152136"/>
            <a:ext cx="3449843" cy="49314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14343" y="4188712"/>
            <a:ext cx="3340115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E7C66"/>
                </a:solidFill>
                <a:latin typeface="Calibri"/>
              </a:rPr>
              <a:t>breaks the fixed-gain wall at ρ* ≈ 1.8: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E7C66"/>
                </a:solidFill>
                <a:latin typeface="Calibri"/>
              </a:rPr>
              <a:t>‖H̃‖∞ 1.019 → 0.99999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800178" y="4152136"/>
            <a:ext cx="888595" cy="49314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864186" y="4188712"/>
            <a:ext cx="778867" cy="493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D-017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4645277"/>
            <a:ext cx="1306758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8" y="4681853"/>
            <a:ext cx="1197030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F253F"/>
                </a:solidFill>
                <a:latin typeface="Calibri"/>
              </a:rPr>
              <a:t>5  Flagship  ★★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09678" y="4645277"/>
            <a:ext cx="3449843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73686" y="4681853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A: spatial ρ(x) map with look-ahead · B: physics-consistency V2V trust gate · C: exact channel law → chance-constrained headway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59521" y="4645277"/>
            <a:ext cx="2090814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23529" y="4681853"/>
            <a:ext cx="1981086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“reactive is enough”, “links are honest”, “binary worst case”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50335" y="4645277"/>
            <a:ext cx="3449843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14343" y="4681853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E7C66"/>
                </a:solidFill>
                <a:latin typeface="Calibri"/>
              </a:rPr>
              <a:t>A: 0 % unstable in-zone (vs 6.9 %) · B: collision → 8.4 m gap · C: −10.5 % headway at 1e−2 risk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800178" y="4645277"/>
            <a:ext cx="888595" cy="687133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864186" y="4681853"/>
            <a:ext cx="778867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D-021…23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5332410"/>
            <a:ext cx="1306758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6928" y="5368986"/>
            <a:ext cx="1197030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F253F"/>
                </a:solidFill>
                <a:latin typeface="Calibri"/>
              </a:rPr>
              <a:t>6  Certify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09678" y="5332410"/>
            <a:ext cx="3449843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73686" y="5368986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Monte-Carlo scenario×seed harness → PASS/FAIL report; plus Simulink as an independent third backend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59521" y="5332410"/>
            <a:ext cx="2090814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23529" y="5368986"/>
            <a:ext cx="1981086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“one implementation is evidence”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50335" y="5332410"/>
            <a:ext cx="3449843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14343" y="5368986"/>
            <a:ext cx="3340115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1" i="0">
                <a:solidFill>
                  <a:srgbClr val="0E7C66"/>
                </a:solidFill>
                <a:latin typeface="Calibri"/>
              </a:rPr>
              <a:t>CERTIFIED across 4 scenario families; Simulink ↔ Python agree to 1e−4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800178" y="5332410"/>
            <a:ext cx="888595" cy="687133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864186" y="5368986"/>
            <a:ext cx="778867" cy="6871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135" b="0" i="0">
                <a:solidFill>
                  <a:srgbClr val="1F2428"/>
                </a:solidFill>
                <a:latin typeface="Calibri"/>
              </a:rPr>
              <a:t>D-018,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Systems — what we built, and the three backends it runs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5410047" cy="384048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62456"/>
            <a:ext cx="52271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MODEL AND THE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410047" cy="398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305" b="1" i="0">
                <a:solidFill>
                  <a:srgbClr val="0F253F"/>
                </a:solidFill>
                <a:latin typeface="Calibri"/>
              </a:rPr>
              <a:t>S1  VEHICLE + CONTROLLERS   vehicle.py, controllers.py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0" i="0">
                <a:solidFill>
                  <a:srgbClr val="1F2428"/>
                </a:solidFill>
                <a:latin typeface="Calibri"/>
              </a:rPr>
              <a:t>–  state x = [p, v, a]; ȧ = (u − a)/τ, u saturated to [−8, +3] m/s² BEFORE integration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0" i="0">
                <a:solidFill>
                  <a:srgbClr val="1F2428"/>
                </a:solidFill>
                <a:latin typeface="Calibri"/>
              </a:rPr>
              <a:t>–  τ = 0.5 s, L = 4 m, r = 1 m ⟹ d = 5 m, matching the paper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0" i="0">
                <a:solidFill>
                  <a:srgbClr val="1F2428"/>
                </a:solidFill>
                <a:latin typeface="Calibri"/>
              </a:rPr>
              <a:t>–  three laws behind ONE interface — ACC (radar only), CACC (+ unity feedforward), CTHP (the base-paper law)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1" i="0">
                <a:solidFill>
                  <a:srgbClr val="1B6EA8"/>
                </a:solidFill>
                <a:latin typeface="Calibri"/>
              </a:rPr>
              <a:t>–  CTHP is STATELESS, so the gain scheduler can swap the instance mid-run with no state transfer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305" b="1" i="0">
                <a:solidFill>
                  <a:srgbClr val="0F253F"/>
                </a:solidFill>
                <a:latin typeface="Calibri"/>
              </a:rPr>
              <a:t>S2  V2V CHANNEL   network.py, qos_map.py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0" i="0">
                <a:solidFill>
                  <a:srgbClr val="1F2428"/>
                </a:solidFill>
                <a:latin typeface="Calibri"/>
              </a:rPr>
              <a:t>–  four independently switchable impairments — NOISE (w per eq. 5, held 10 ms) · DELAY θ · LOSS + zero-order hold · ATTACK injection on one link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1" i="0">
                <a:solidFill>
                  <a:srgbClr val="1B6EA8"/>
                </a:solidFill>
                <a:latin typeface="Calibri"/>
              </a:rPr>
              <a:t>–  the ρ-INDEPENDENT bit cache: it stores U′ = Σ z</a:t>
            </a:r>
            <a:r>
              <a:rPr sz="893" b="1" i="0" baseline="-21000">
                <a:solidFill>
                  <a:srgbClr val="1B6EA8"/>
                </a:solidFill>
                <a:latin typeface="Calibri"/>
              </a:rPr>
              <a:t>j</a:t>
            </a:r>
            <a:r>
              <a:rPr sz="1145" b="1" i="0">
                <a:solidFill>
                  <a:srgbClr val="1B6EA8"/>
                </a:solidFill>
                <a:latin typeface="Calibri"/>
              </a:rPr>
              <a:t> 2⁻ʲ, not w, so a ρ-schedule RESCALES the same realisation instead of redrawing it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1" i="0">
                <a:solidFill>
                  <a:srgbClr val="0E7C66"/>
                </a:solidFill>
                <a:latin typeface="Calibri"/>
              </a:rPr>
              <a:t>–  ⟹ two zone studies are seed-comparable: the difference between runs is the schedule, not the dice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0" i="0">
                <a:solidFill>
                  <a:srgbClr val="1F2428"/>
                </a:solidFill>
                <a:latin typeface="Calibri"/>
              </a:rPr>
              <a:t>–  QoSMap gives channel quality by POSITION, ρ(x), and exposes it at (x + v·preview) — the look-ahead that makes adaptation predictive rather than reactive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1298448"/>
            <a:ext cx="5410047" cy="384048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8455" y="1362456"/>
            <a:ext cx="52271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ANALYSIS, ADAPTATION, AND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828800"/>
            <a:ext cx="5410047" cy="398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305" b="1" i="0">
                <a:solidFill>
                  <a:srgbClr val="0F253F"/>
                </a:solidFill>
                <a:latin typeface="Calibri"/>
              </a:rPr>
              <a:t>S3  ANALYSIS + CERTIFICATION   analysis.py, certificate.py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1" i="0">
                <a:solidFill>
                  <a:srgbClr val="0E7C66"/>
                </a:solidFill>
                <a:latin typeface="Calibri"/>
              </a:rPr>
              <a:t>–  delays evaluated EXACTLY as e</a:t>
            </a:r>
            <a:r>
              <a:rPr sz="893" b="1" i="0" baseline="33000">
                <a:solidFill>
                  <a:srgbClr val="0E7C66"/>
                </a:solidFill>
                <a:latin typeface="Calibri"/>
              </a:rPr>
              <a:t>−jωθ</a:t>
            </a:r>
            <a:r>
              <a:rPr sz="1145" b="1" i="0">
                <a:solidFill>
                  <a:srgbClr val="0E7C66"/>
                </a:solidFill>
                <a:latin typeface="Calibri"/>
              </a:rPr>
              <a:t>, never Padé — margins here are 10⁻³ and Padé phase error would corrupt exactly the verdicts we need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1" i="0">
                <a:solidFill>
                  <a:srgbClr val="0E7C66"/>
                </a:solidFill>
                <a:latin typeface="Calibri"/>
              </a:rPr>
              <a:t>–  min_stable_headway BISECTS on h, because (28a)/(28b) are sufficient-not-necessary; hinf_worst grids k̃</a:t>
            </a:r>
            <a:r>
              <a:rPr sz="893" b="1" i="0" baseline="-21000">
                <a:solidFill>
                  <a:srgbClr val="0E7C66"/>
                </a:solidFill>
                <a:latin typeface="Calibri"/>
              </a:rPr>
              <a:t>a</a:t>
            </a:r>
            <a:r>
              <a:rPr sz="1145" b="1" i="0">
                <a:solidFill>
                  <a:srgbClr val="0E7C66"/>
                </a:solidFill>
                <a:latin typeface="Calibri"/>
              </a:rPr>
              <a:t> across I so the binding endpoint is CHECKED, not assumed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0" i="0">
                <a:solidFill>
                  <a:srgbClr val="1F2428"/>
                </a:solidFill>
                <a:latin typeface="Calibri"/>
              </a:rPr>
              <a:t>–  ChannelLaw.build(ρ) — the EXACT law of w, 2¹⁶ = 65 536 atoms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305" b="1" i="0">
                <a:solidFill>
                  <a:srgbClr val="0F253F"/>
                </a:solidFill>
                <a:latin typeface="Calibri"/>
              </a:rPr>
              <a:t>S4  ADAPTATION   estimation.py, trust.py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1" i="0">
                <a:solidFill>
                  <a:srgbClr val="B56B00"/>
                </a:solidFill>
                <a:latin typeface="Calibri"/>
              </a:rPr>
              <a:t>–  ρ̂ from radar-vs-beacon residuals over an AGE-based window — a count-based window was tried first and FAILED (ρ̂ stuck at 3.1 after zone exit)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0" i="0">
                <a:solidFill>
                  <a:srgbClr val="1F2428"/>
                </a:solidFill>
                <a:latin typeface="Calibri"/>
              </a:rPr>
              <a:t>–  h-table built ONCE by bisection, then rate-limited to 0.05 s/s; scheduler holds γ at 90 % of the (28a) ceiling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305" b="1" i="0">
                <a:solidFill>
                  <a:srgbClr val="0F253F"/>
                </a:solidFill>
                <a:latin typeface="Calibri"/>
              </a:rPr>
              <a:t>S5  THREE BACKENDS, ONE SET OF EQUATIONS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1" i="0">
                <a:solidFill>
                  <a:srgbClr val="0E7C66"/>
                </a:solidFill>
                <a:latin typeface="Calibri"/>
              </a:rPr>
              <a:t>–  Python core — hand-written RK4 over the stacked state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1" i="0">
                <a:solidFill>
                  <a:srgbClr val="0E7C66"/>
                </a:solidFill>
                <a:latin typeface="Calibri"/>
              </a:rPr>
              <a:t>–  ROS 2 — one OS process per vehicle; the nodes IMPORT cacc.*, so there is no second implementation to drift</a:t>
            </a:r>
          </a:p>
          <a:p>
            <a:pPr algn="l" marL="374904" indent="-173736">
              <a:spcBef>
                <a:spcPts val="0"/>
              </a:spcBef>
              <a:spcAft>
                <a:spcPts val="150"/>
              </a:spcAft>
            </a:pPr>
            <a:r>
              <a:rPr sz="1145" b="1" i="0">
                <a:solidFill>
                  <a:srgbClr val="0E7C66"/>
                </a:solidFill>
                <a:latin typeface="Calibri"/>
              </a:rPr>
              <a:t>–  Simulink — a width-N model built programmatically from a reviewable .m, so the .slx is a diffable artefact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12536"/>
            <a:ext cx="11185855" cy="55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Declarative YAML scenarios ⟹ a study is a name plus a seed; each run writes results/&lt;study&gt;/&lt;stamp&gt;/ with figures AND metrics.json, so every number on a later slide traces to a file.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50" b="1" i="0">
                <a:solidFill>
                  <a:srgbClr val="0F253F"/>
                </a:solidFill>
                <a:latin typeface="Calibri"/>
              </a:rPr>
              <a:t>Where the headway formula comes from — turning the test into algebra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1B6EA8"/>
                </a:solidFill>
                <a:latin typeface="Calibri"/>
              </a:rPr>
              <a:t>Eq. (25) — the string-stability inequality, derived rather than quoted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Where the formula comes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1185855" cy="493979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38100" cy="493979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48740"/>
            <a:ext cx="10865815" cy="493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0E7C66"/>
                </a:solidFill>
                <a:latin typeface="Calibri"/>
              </a:rPr>
              <a:t>GOAL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0F253F"/>
                </a:solidFill>
                <a:latin typeface="Calibri"/>
              </a:rPr>
              <a:t>The reviewer's most likely question is “where does 0.9375 come from?”. It comes from four steps, and these are the first two.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15871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02155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SQUARE BOTH SIDES — the test becomes a polynomial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" y="2163368"/>
            <a:ext cx="10801807" cy="97122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68" y="2163368"/>
            <a:ext cx="31750" cy="971223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" descr="eq_cf2514509c227f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236520"/>
            <a:ext cx="5223532" cy="350132"/>
          </a:xfrm>
          <a:prstGeom prst="rect">
            <a:avLst/>
          </a:prstGeom>
        </p:spPr>
      </p:pic>
      <p:pic>
        <p:nvPicPr>
          <p:cNvPr id="16" name="Picture 15" descr="eq_13f3a477010bbf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687236"/>
            <a:ext cx="7912984" cy="37420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33272" y="3175739"/>
            <a:ext cx="10655503" cy="45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“No frequency is amplified” is awkward to work with, but squaring it turns it into two polynomials to compare. Write each one out by separating the real and imaginary parts.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78023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764307"/>
            <a:ext cx="10801807" cy="261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F253F"/>
                </a:solidFill>
                <a:latin typeface="Calibri"/>
              </a:rPr>
              <a:t>SUBTRACT — and watch two things vanish, eq. (25)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" y="4025520"/>
            <a:ext cx="10801807" cy="590534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" y="4025520"/>
            <a:ext cx="31750" cy="590534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Picture 21" descr="eq_76ad896402203f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098671"/>
            <a:ext cx="9228168" cy="44423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3272" y="4657202"/>
            <a:ext cx="10655503" cy="45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IN WORDS:   k</a:t>
            </a:r>
            <a:r>
              <a:rPr sz="943" b="1" i="0" baseline="-21000">
                <a:solidFill>
                  <a:srgbClr val="0E7C66"/>
                </a:solidFill>
                <a:latin typeface="Calibri"/>
              </a:rPr>
              <a:t>p</a:t>
            </a:r>
            <a:r>
              <a:rPr sz="1210" b="1" i="0">
                <a:solidFill>
                  <a:srgbClr val="0E7C66"/>
                </a:solidFill>
                <a:latin typeface="Calibri"/>
              </a:rPr>
              <a:t>² cancels between the two, and a whole ω² factors out. What is left is a QUADRATIC in ω² that must never go negative — and our code checks this identity numerically to 1.8×10⁻¹², so there is no algebra slip hiding here.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010656"/>
            <a:ext cx="11185855" cy="353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Do this on the whiteboard if asked: it is four lines. docs/derivations/02-ma2025-base-paper.md §2.6.1 has every cancellation written 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F253F"/>
                </a:solidFill>
                <a:latin typeface="Calibri"/>
              </a:rPr>
              <a:t>Where the headway formula comes from — squeezing the gains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1B6EA8"/>
                </a:solidFill>
                <a:latin typeface="Calibri"/>
              </a:rPr>
              <a:t>Eqs. (28a), (28b) → (17) — the step the deck used to skip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Where the formula comes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12164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298448"/>
            <a:ext cx="10801807" cy="2399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95" b="1" i="0">
                <a:solidFill>
                  <a:srgbClr val="0F253F"/>
                </a:solidFill>
                <a:latin typeface="Calibri"/>
              </a:rPr>
              <a:t>DEMAND EACH COEFFICIENT BE POSITIVE, then robustify — eqs. (28a), (28b)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1538389"/>
            <a:ext cx="10801807" cy="595289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1538389"/>
            <a:ext cx="31750" cy="595289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eq_332226ecb88261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11541"/>
            <a:ext cx="8372491" cy="4489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3272" y="2174826"/>
            <a:ext cx="10655503" cy="4094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5" b="1" i="0">
                <a:solidFill>
                  <a:srgbClr val="0E7C66"/>
                </a:solidFill>
                <a:latin typeface="Calibri"/>
              </a:rPr>
              <a:t>IN WORDS:   A quadratic is certainly non-negative if every coefficient is. Then make it hold for EVERY channel the radio might produce: (28a) is worst when the channel over-reports, (28b) when it under-reports. Note (28a) contains NO h</a:t>
            </a:r>
            <a:r>
              <a:rPr sz="846" b="1" i="0" baseline="-21000">
                <a:solidFill>
                  <a:srgbClr val="0E7C66"/>
                </a:solidFill>
                <a:latin typeface="Calibri"/>
              </a:rPr>
              <a:t>w</a:t>
            </a:r>
            <a:r>
              <a:rPr sz="1085" b="1" i="0">
                <a:solidFill>
                  <a:srgbClr val="0E7C66"/>
                </a:solidFill>
                <a:latin typeface="Calibri"/>
              </a:rPr>
              <a:t> — remember that.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35200"/>
            <a:ext cx="274320" cy="27432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721484"/>
            <a:ext cx="10801807" cy="2399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95" b="1" i="0">
                <a:solidFill>
                  <a:srgbClr val="0F253F"/>
                </a:solidFill>
                <a:latin typeface="Calibri"/>
              </a:rPr>
              <a:t>CHAIN THE TWO — the gains cancel and only headway survives, eq. (17)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" y="2961425"/>
            <a:ext cx="10801807" cy="1480814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" y="2961425"/>
            <a:ext cx="31750" cy="1480814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eq_eae2e379d0db71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034577"/>
            <a:ext cx="7403315" cy="272951"/>
          </a:xfrm>
          <a:prstGeom prst="rect">
            <a:avLst/>
          </a:prstGeom>
        </p:spPr>
      </p:pic>
      <p:pic>
        <p:nvPicPr>
          <p:cNvPr id="19" name="Picture 18" descr="eq_b9feb8346f9aec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408112"/>
            <a:ext cx="4495788" cy="403493"/>
          </a:xfrm>
          <a:prstGeom prst="rect">
            <a:avLst/>
          </a:prstGeom>
        </p:spPr>
      </p:pic>
      <p:pic>
        <p:nvPicPr>
          <p:cNvPr id="20" name="Picture 19" descr="eq_e371e45ae13af1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912190"/>
            <a:ext cx="7104651" cy="45689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33272" y="4483387"/>
            <a:ext cx="10655503" cy="4094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5" b="1" i="0">
                <a:solidFill>
                  <a:srgbClr val="0E7C66"/>
                </a:solidFill>
                <a:latin typeface="Calibri"/>
              </a:rPr>
              <a:t>IN WORDS:   This is the whole trick. (28b) puts a FLOOR under γ and (28a) puts a CEILING on it; sandwich them and k</a:t>
            </a:r>
            <a:r>
              <a:rPr sz="846" b="1" i="0" baseline="-21000">
                <a:solidFill>
                  <a:srgbClr val="0E7C66"/>
                </a:solidFill>
                <a:latin typeface="Calibri"/>
              </a:rPr>
              <a:t>v</a:t>
            </a:r>
            <a:r>
              <a:rPr sz="1085" b="1" i="0">
                <a:solidFill>
                  <a:srgbClr val="0E7C66"/>
                </a:solidFill>
                <a:latin typeface="Calibri"/>
              </a:rPr>
              <a:t> and k</a:t>
            </a:r>
            <a:r>
              <a:rPr sz="846" b="1" i="0" baseline="-21000">
                <a:solidFill>
                  <a:srgbClr val="0E7C66"/>
                </a:solidFill>
                <a:latin typeface="Calibri"/>
              </a:rPr>
              <a:t>p</a:t>
            </a:r>
            <a:r>
              <a:rPr sz="1085" b="1" i="0">
                <a:solidFill>
                  <a:srgbClr val="0E7C66"/>
                </a:solidFill>
                <a:latin typeface="Calibri"/>
              </a:rPr>
              <a:t> drop out, leaving an inequality in headway alone. Put ρ = 5, τ₀ = 0.5, k</a:t>
            </a:r>
            <a:r>
              <a:rPr sz="846" b="1" i="0" baseline="-21000">
                <a:solidFill>
                  <a:srgbClr val="0E7C66"/>
                </a:solidFill>
                <a:latin typeface="Calibri"/>
              </a:rPr>
              <a:t>a</a:t>
            </a:r>
            <a:r>
              <a:rPr sz="1085" b="1" i="0">
                <a:solidFill>
                  <a:srgbClr val="0E7C66"/>
                </a:solidFill>
                <a:latin typeface="Calibri"/>
              </a:rPr>
              <a:t> = 0.5 in and you get 0.60 / 0.64 = 0.9375 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030045"/>
            <a:ext cx="11185855" cy="646010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30045"/>
            <a:ext cx="38100" cy="64601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080337"/>
            <a:ext cx="10865815" cy="646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875" b="1" i="0">
                <a:solidFill>
                  <a:srgbClr val="1B6EA8"/>
                </a:solidFill>
                <a:latin typeface="Calibri"/>
              </a:rPr>
              <a:t>WHAT THIS BUYS 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5" b="0" i="0">
                <a:solidFill>
                  <a:srgbClr val="0F253F"/>
                </a:solidFill>
                <a:latin typeface="Calibri"/>
              </a:rPr>
              <a:t>READ THE ASYMMETRY: (28a) has no h</a:t>
            </a:r>
            <a:r>
              <a:rPr sz="900" b="0" i="0" baseline="-21000">
                <a:solidFill>
                  <a:srgbClr val="0F253F"/>
                </a:solidFill>
                <a:latin typeface="Calibri"/>
              </a:rPr>
              <a:t>w</a:t>
            </a:r>
            <a:r>
              <a:rPr sz="1155" b="0" i="0">
                <a:solidFill>
                  <a:srgbClr val="0F253F"/>
                </a:solidFill>
                <a:latin typeface="Calibri"/>
              </a:rPr>
              <a:t> in it, so no amount of headway can rescue an over-aggressive γ. That single fact is why headway-only adaptation hits a wall at ρ* ≈ 1.8, and why Phase 4 (re-tuning the gains) had to exist.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812536"/>
            <a:ext cx="11185855" cy="55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The split in step 3 is SUFFICIENT, NOT NECESSARY: a quadratic can have a negative middle coefficient and still stay non-negative. Our counterexample (k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a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=0.5,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v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=0.70,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p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=0.009, h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w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=1.50) fails (28a) yet has ‖H̃‖∞ = 1.000000 — so h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lb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 is CONSERVATIVE for a platoon whose gains are already fixed.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0F253F"/>
                </a:solidFill>
                <a:latin typeface="Calibri"/>
              </a:rPr>
              <a:t>What we added (1–3) — undo the delay, measure the channel, move the headway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Phases 1 and 3 (D-008, D-016) — each removes one assumption the base paper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What we added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12164"/>
            <a:ext cx="274320" cy="27432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5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298448"/>
            <a:ext cx="10801807" cy="256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95" b="1" i="0">
                <a:solidFill>
                  <a:srgbClr val="0F253F"/>
                </a:solidFill>
                <a:latin typeface="Calibri"/>
              </a:rPr>
              <a:t>PREDICTOR — undo the V2V delay before it destabilises the string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1555407"/>
            <a:ext cx="10801807" cy="62062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1555407"/>
            <a:ext cx="31750" cy="620623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eq_0d04a4cf1f7d07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28559"/>
            <a:ext cx="6455896" cy="4743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3272" y="2217178"/>
            <a:ext cx="10655503" cy="64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85" b="1" i="0">
                <a:solidFill>
                  <a:srgbClr val="0E7C66"/>
                </a:solidFill>
                <a:latin typeface="Calibri"/>
              </a:rPr>
              <a:t>IN WORDS:   Take it away and the platoon goes string-unstable at a delay of ≈40 ms — too small to think to look for. With it, it survives to ≈220 ms. Delays are evaluated EXACTLY as e^(−jωθ), never Padé, because our margins are 10⁻³ and Padé phase error would corrupt the very verdicts we need.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09734"/>
            <a:ext cx="274320" cy="27432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5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996018"/>
            <a:ext cx="10801807" cy="256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95" b="1" i="0">
                <a:solidFill>
                  <a:srgbClr val="0F253F"/>
                </a:solidFill>
                <a:latin typeface="Calibri"/>
              </a:rPr>
              <a:t>ESTIMATOR — work out how noisy the radio is, online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" y="3252977"/>
            <a:ext cx="10801807" cy="605599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" y="3252977"/>
            <a:ext cx="31750" cy="605599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eq_e02c689a2946a1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326129"/>
            <a:ext cx="4039227" cy="4592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33272" y="3899724"/>
            <a:ext cx="10655503" cy="4430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85" b="1" i="0">
                <a:solidFill>
                  <a:srgbClr val="0E7C66"/>
                </a:solidFill>
                <a:latin typeface="Calibri"/>
              </a:rPr>
              <a:t>IN WORDS:   Compare what the radio SAID against what the radar SAW, and the spread of the disagreement tells you ρ. Because |w−1| ≤ 1/ρ STRICTLY, any high quantile errs in a known direction — so ρ̂ is conservative BY CONSTRUCTION, not by tuning.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493626"/>
            <a:ext cx="274320" cy="27432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5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479910"/>
            <a:ext cx="10801807" cy="256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95" b="1" i="0">
                <a:solidFill>
                  <a:srgbClr val="0F253F"/>
                </a:solidFill>
                <a:latin typeface="Calibri"/>
              </a:rPr>
              <a:t>ADAPTER — move the headway, but at a speed a passenger can accept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" y="4736869"/>
            <a:ext cx="10801807" cy="513311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" y="4736869"/>
            <a:ext cx="31750" cy="513311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eq_a7d0b9750fce55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810021"/>
            <a:ext cx="7921780" cy="3670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33272" y="5291328"/>
            <a:ext cx="10655503" cy="4430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85" b="1" i="0">
                <a:solidFill>
                  <a:srgbClr val="0E7C66"/>
                </a:solidFill>
                <a:latin typeface="Calibri"/>
              </a:rPr>
              <a:t>IN WORDS:   Without it you would need one certified design for every possible ρ. The rate limit is what keeps a headway change a COMMANDED manoeuvre rather than a lurch.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010656"/>
            <a:ext cx="11185855" cy="353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Nothing here replaces the paper — it all sits on a reproduction that matches its printed digits to four decimals.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50" b="1" i="0">
                <a:solidFill>
                  <a:srgbClr val="0F253F"/>
                </a:solidFill>
                <a:latin typeface="Calibri"/>
              </a:rPr>
              <a:t>What we added (4–6) — re-tune the gains, survive a liar, price the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Phases 4 and 5 (D-017, D-022, D-023) — the flagship extensions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What we added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12164"/>
            <a:ext cx="274320" cy="27432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298448"/>
            <a:ext cx="10801807" cy="252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70" b="1" i="0">
                <a:solidFill>
                  <a:srgbClr val="0F253F"/>
                </a:solidFill>
                <a:latin typeface="Calibri"/>
              </a:rPr>
              <a:t>SCHEDULER — when headway alone is not enough, re-tune the gains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1551152"/>
            <a:ext cx="10801807" cy="644989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1551152"/>
            <a:ext cx="31750" cy="644989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eq_466bae4c48e8a9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24304"/>
            <a:ext cx="3415050" cy="4986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3272" y="2237289"/>
            <a:ext cx="10655503" cy="434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60" b="1" i="0">
                <a:solidFill>
                  <a:srgbClr val="0E7C66"/>
                </a:solidFill>
                <a:latin typeface="Calibri"/>
              </a:rPr>
              <a:t>IN WORDS:   Below ρ* ≈ 1.8 there is NO feasible design at any headway — because the (28a) ceiling ignores h</a:t>
            </a:r>
            <a:r>
              <a:rPr sz="904" b="1" i="0" baseline="-21000">
                <a:solidFill>
                  <a:srgbClr val="0E7C66"/>
                </a:solidFill>
                <a:latin typeface="Calibri"/>
              </a:rPr>
              <a:t>w</a:t>
            </a:r>
            <a:r>
              <a:rPr sz="1160" b="1" i="0">
                <a:solidFill>
                  <a:srgbClr val="0E7C66"/>
                </a:solidFill>
                <a:latin typeface="Calibri"/>
              </a:rPr>
              <a:t> entirely. Holding γ at 90 % of that ceiling restores feasibility, and lands at a SHORTER headway than the failed headway-only attempt (2.331 s vs 2.50 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22809"/>
            <a:ext cx="274320" cy="27432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809093"/>
            <a:ext cx="10801807" cy="252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70" b="1" i="0">
                <a:solidFill>
                  <a:srgbClr val="0F253F"/>
                </a:solidFill>
                <a:latin typeface="Calibri"/>
              </a:rPr>
              <a:t>TRUST GATE — the radar is the only second opinion there 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" y="3061797"/>
            <a:ext cx="10801807" cy="478761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" y="3061797"/>
            <a:ext cx="31750" cy="478761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eq_3b81ad464ce882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134949"/>
            <a:ext cx="5405584" cy="3324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33272" y="3581706"/>
            <a:ext cx="10655503" cy="629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60" b="1" i="0">
                <a:solidFill>
                  <a:srgbClr val="0E7C66"/>
                </a:solidFill>
                <a:latin typeface="Calibri"/>
              </a:rPr>
              <a:t>IN WORDS:   One spoofed link steers the car behind it into a collision (−27.4 m gap, i.e. cars overlapping). A predecessor chain has no neighbours to vote with, so consensus filtering is unavailable — but the same quantity arrives TWICE, over radio and off radar. Trust the radio only as far as physics allows.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61689"/>
            <a:ext cx="274320" cy="27432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47973"/>
            <a:ext cx="10801807" cy="252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70" b="1" i="0">
                <a:solidFill>
                  <a:srgbClr val="0F253F"/>
                </a:solidFill>
                <a:latin typeface="Calibri"/>
              </a:rPr>
              <a:t>CERTIFICATE — replace a binary verdict with a priced risk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" y="4600677"/>
            <a:ext cx="10801807" cy="642885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" y="4600677"/>
            <a:ext cx="31750" cy="642885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eq_5127dc28843630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673829"/>
            <a:ext cx="9559194" cy="49658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33272" y="5284710"/>
            <a:ext cx="10655503" cy="434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60" b="1" i="0">
                <a:solidFill>
                  <a:srgbClr val="0E7C66"/>
                </a:solidFill>
                <a:latin typeface="Calibri"/>
              </a:rPr>
              <a:t>IN WORDS:   Worst-case design pays the full price for events of probability 10⁻⁶. But the law of w is known EXACTLY — 2¹⁶ = 65 536 atoms — so there is no need to BOUND, we can INTEGRATE. A regulator sets ε and the method returns the headway: −10.5 % for a 1-in-100 budget.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010656"/>
            <a:ext cx="11185855" cy="353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Each row is measured on the results pages later in the deck; none of these numbers is asserted without a run behind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Simulation — the Simulink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matlab/models/cacc_platoon.slx — the top level, exported straight from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The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14</a:t>
            </a:r>
          </a:p>
        </p:txBody>
      </p:sp>
      <p:pic>
        <p:nvPicPr>
          <p:cNvPr id="8" name="Picture 7" descr="model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4698059" cy="35400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1019" y="1298448"/>
            <a:ext cx="6167756" cy="4974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405" b="1" i="0">
                <a:solidFill>
                  <a:srgbClr val="0F253F"/>
                </a:solidFill>
                <a:latin typeface="Calibri"/>
              </a:rPr>
              <a:t>ONE model, twelve vehicles, no copy-paste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25" b="1" i="0">
                <a:solidFill>
                  <a:srgbClr val="0E7C66"/>
                </a:solidFill>
                <a:latin typeface="Calibri"/>
              </a:rPr>
              <a:t>▪  The whole platoon is VECTORISED to width N = 12: every signal line carries 12 lanes, so there is exactly one integrator chain and one control law in the diagram, not twelve.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05" b="1" i="0">
                <a:solidFill>
                  <a:srgbClr val="0F253F"/>
                </a:solidFill>
                <a:latin typeface="Calibri"/>
              </a:rPr>
              <a:t>Predecessor coupling is a matrix, not wiring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25" b="0" i="0">
                <a:solidFill>
                  <a:srgbClr val="1F2428"/>
                </a:solidFill>
                <a:latin typeface="Calibri"/>
              </a:rPr>
              <a:t>▪  PredSel = [I</a:t>
            </a:r>
            <a:r>
              <a:rPr sz="1033" b="0" i="0" baseline="-21000">
                <a:solidFill>
                  <a:srgbClr val="1F2428"/>
                </a:solidFill>
                <a:latin typeface="Calibri"/>
              </a:rPr>
              <a:t>N</a:t>
            </a:r>
            <a:r>
              <a:rPr sz="1325" b="0" i="0">
                <a:solidFill>
                  <a:srgbClr val="1F2428"/>
                </a:solidFill>
                <a:latin typeface="Calibri"/>
              </a:rPr>
              <a:t> | 0] shifts the stacked state by one vehicle, so a</a:t>
            </a:r>
            <a:r>
              <a:rPr sz="1033" b="0" i="0" baseline="-21000">
                <a:solidFill>
                  <a:srgbClr val="1F2428"/>
                </a:solidFill>
                <a:latin typeface="Calibri"/>
              </a:rPr>
              <a:t>pred</a:t>
            </a:r>
            <a:r>
              <a:rPr sz="1325" b="0" i="0">
                <a:solidFill>
                  <a:srgbClr val="1F2428"/>
                </a:solidFill>
                <a:latin typeface="Calibri"/>
              </a:rPr>
              <a:t> = PredSel·[a</a:t>
            </a:r>
            <a:r>
              <a:rPr sz="1033" b="0" i="0" baseline="-21000">
                <a:solidFill>
                  <a:srgbClr val="1F2428"/>
                </a:solidFill>
                <a:latin typeface="Calibri"/>
              </a:rPr>
              <a:t>lead</a:t>
            </a:r>
            <a:r>
              <a:rPr sz="1325" b="0" i="0">
                <a:solidFill>
                  <a:srgbClr val="1F2428"/>
                </a:solidFill>
                <a:latin typeface="Calibri"/>
              </a:rPr>
              <a:t>; a] — the look-ahead topology is a single gain block that can be changed without rewiring.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05" b="1" i="0">
                <a:solidFill>
                  <a:srgbClr val="0F253F"/>
                </a:solidFill>
                <a:latin typeface="Calibri"/>
              </a:rPr>
              <a:t>Three blocks, three responsibilities</a:t>
            </a:r>
          </a:p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235" b="0" i="0">
                <a:solidFill>
                  <a:srgbClr val="0F253F"/>
                </a:solidFill>
                <a:latin typeface="Consolas"/>
              </a:rPr>
              <a:t>Lead Vehicle — a₀(t) = 0.5 sin(0.1(t−10)) over exactly one period, then constant</a:t>
            </a:r>
          </a:p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235" b="0" i="0">
                <a:solidFill>
                  <a:srgbClr val="0F253F"/>
                </a:solidFill>
                <a:latin typeface="Consolas"/>
              </a:rPr>
              <a:t>V2V Channel — the 16-bit multiplicative w of eq. (5)</a:t>
            </a:r>
          </a:p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235" b="0" i="0">
                <a:solidFill>
                  <a:srgbClr val="0F253F"/>
                </a:solidFill>
                <a:latin typeface="Consolas"/>
              </a:rPr>
              <a:t>Platoon — δ = x − x</a:t>
            </a:r>
            <a:r>
              <a:rPr sz="963" b="0" i="0" baseline="-21000">
                <a:solidFill>
                  <a:srgbClr val="0F253F"/>
                </a:solidFill>
                <a:latin typeface="Consolas"/>
              </a:rPr>
              <a:t>pred</a:t>
            </a:r>
            <a:r>
              <a:rPr sz="1235" b="0" i="0">
                <a:solidFill>
                  <a:srgbClr val="0F253F"/>
                </a:solidFill>
                <a:latin typeface="Consolas"/>
              </a:rPr>
              <a:t> + h</a:t>
            </a:r>
            <a:r>
              <a:rPr sz="963" b="0" i="0" baseline="-21000">
                <a:solidFill>
                  <a:srgbClr val="0F253F"/>
                </a:solidFill>
                <a:latin typeface="Consolas"/>
              </a:rPr>
              <a:t>w</a:t>
            </a:r>
            <a:r>
              <a:rPr sz="1235" b="0" i="0">
                <a:solidFill>
                  <a:srgbClr val="0F253F"/>
                </a:solidFill>
                <a:latin typeface="Consolas"/>
              </a:rPr>
              <a:t> v + d ; u = k</a:t>
            </a:r>
            <a:r>
              <a:rPr sz="963" b="0" i="0" baseline="-21000">
                <a:solidFill>
                  <a:srgbClr val="0F253F"/>
                </a:solidFill>
                <a:latin typeface="Consolas"/>
              </a:rPr>
              <a:t>a</a:t>
            </a:r>
            <a:r>
              <a:rPr sz="1235" b="0" i="0">
                <a:solidFill>
                  <a:srgbClr val="0F253F"/>
                </a:solidFill>
                <a:latin typeface="Consolas"/>
              </a:rPr>
              <a:t>(w·a</a:t>
            </a:r>
            <a:r>
              <a:rPr sz="963" b="0" i="0" baseline="-21000">
                <a:solidFill>
                  <a:srgbClr val="0F253F"/>
                </a:solidFill>
                <a:latin typeface="Consolas"/>
              </a:rPr>
              <a:t>pred</a:t>
            </a:r>
            <a:r>
              <a:rPr sz="1235" b="0" i="0">
                <a:solidFill>
                  <a:srgbClr val="0F253F"/>
                </a:solidFill>
                <a:latin typeface="Consolas"/>
              </a:rPr>
              <a:t>) − k</a:t>
            </a:r>
            <a:r>
              <a:rPr sz="963" b="0" i="0" baseline="-21000">
                <a:solidFill>
                  <a:srgbClr val="0F253F"/>
                </a:solidFill>
                <a:latin typeface="Consolas"/>
              </a:rPr>
              <a:t>v</a:t>
            </a:r>
            <a:r>
              <a:rPr sz="1235" b="0" i="0">
                <a:solidFill>
                  <a:srgbClr val="0F253F"/>
                </a:solidFill>
                <a:latin typeface="Consolas"/>
              </a:rPr>
              <a:t>(v−v</a:t>
            </a:r>
            <a:r>
              <a:rPr sz="963" b="0" i="0" baseline="-21000">
                <a:solidFill>
                  <a:srgbClr val="0F253F"/>
                </a:solidFill>
                <a:latin typeface="Consolas"/>
              </a:rPr>
              <a:t>pred</a:t>
            </a:r>
            <a:r>
              <a:rPr sz="1235" b="0" i="0">
                <a:solidFill>
                  <a:srgbClr val="0F253F"/>
                </a:solidFill>
                <a:latin typeface="Consolas"/>
              </a:rPr>
              <a:t>) − k</a:t>
            </a:r>
            <a:r>
              <a:rPr sz="963" b="0" i="0" baseline="-21000">
                <a:solidFill>
                  <a:srgbClr val="0F253F"/>
                </a:solidFill>
                <a:latin typeface="Consolas"/>
              </a:rPr>
              <a:t>p</a:t>
            </a:r>
            <a:r>
              <a:rPr sz="1235" b="0" i="0">
                <a:solidFill>
                  <a:srgbClr val="0F253F"/>
                </a:solidFill>
                <a:latin typeface="Consolas"/>
              </a:rPr>
              <a:t> δ ; ȧ = (u−a)/τ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05" b="1" i="0">
                <a:solidFill>
                  <a:srgbClr val="0F253F"/>
                </a:solidFill>
                <a:latin typeface="Calibri"/>
              </a:rPr>
              <a:t>The .slx is a build artefact, not the source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25" b="1" i="0">
                <a:solidFill>
                  <a:srgbClr val="0E7C66"/>
                </a:solidFill>
                <a:latin typeface="Calibri"/>
              </a:rPr>
              <a:t>▪  the model is BUILT PROGRAMMATICALLY by matlab/models/build_cacc_model.m (~300 lines of add_block / add_line). The reviewable, diffable, version-controlled artefact is the .m file; the .slx is regenerated from it.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25" b="1" i="0">
                <a:solidFill>
                  <a:srgbClr val="0E7C66"/>
                </a:solidFill>
                <a:latin typeface="Calibri"/>
              </a:rPr>
              <a:t>▪  That is why a third backend is worth having at all: it is an independent re-derivation of the same equations, not a re-run of the same code.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Simulation — the platoon in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scenarios/ma2025_sine.yaml, case-A gains — the reproduction run, animated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The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15</a:t>
            </a:r>
          </a:p>
        </p:txBody>
      </p:sp>
      <p:pic>
        <p:nvPicPr>
          <p:cNvPr id="8" name="Picture 7" descr="platoon_film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4474342" cy="47476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97302" y="1298448"/>
            <a:ext cx="6391473" cy="4974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430" b="1" i="0">
                <a:solidFill>
                  <a:srgbClr val="0F253F"/>
                </a:solidFill>
                <a:latin typeface="Calibri"/>
              </a:rPr>
              <a:t>Twelve followers behind one leader, top-down, to scale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0" i="0">
                <a:solidFill>
                  <a:srgbClr val="1F2428"/>
                </a:solidFill>
                <a:latin typeface="Calibri"/>
              </a:rPr>
              <a:t>▪  Four instants of the same 200 s run: t = 0, 67, 133, 200 s. Cars are drawn at their true 4 m length; colour encodes the spacing error (green tight, red |e| ≥ 1 m).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30" b="1" i="0">
                <a:solidFill>
                  <a:srgbClr val="0F253F"/>
                </a:solidFill>
                <a:latin typeface="Calibri"/>
              </a:rPr>
              <a:t>What the animation is for — and what it is NOT for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It shows the manoeuvre is physically sensible: the wave travels backwards, gaps open and close, nothing collides.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A82B2B"/>
                </a:solidFill>
                <a:latin typeface="Calibri"/>
              </a:rPr>
              <a:t>▪  It CANNOT show string stability. A per-hop gain of 1.0035 compounds to 1.039× over 11 vehicles — invisible to the eye. That is why the verdict is always taken in the frequency domain and the animation is used only as a sanity check.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30" b="1" i="0">
                <a:solidFill>
                  <a:srgbClr val="0F253F"/>
                </a:solidFill>
                <a:latin typeface="Calibri"/>
              </a:rPr>
              <a:t>Generated from the same core, not a separate model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0" i="0">
                <a:solidFill>
                  <a:srgbClr val="1F2428"/>
                </a:solidFill>
                <a:latin typeface="Calibri"/>
              </a:rPr>
              <a:t>▪  scripts/render_platoon_video.py simulates the scenario through cacc.platoon and animates the result, so the picture and the numbers cannot disagree.</a:t>
            </a:r>
          </a:p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260" b="0" i="0">
                <a:solidFill>
                  <a:srgbClr val="0F253F"/>
                </a:solidFill>
                <a:latin typeface="Consolas"/>
              </a:rPr>
              <a:t>python scripts/make_sim_assets.py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0" i="0">
                <a:solidFill>
                  <a:srgbClr val="1F2428"/>
                </a:solidFill>
                <a:latin typeface="Calibri"/>
              </a:rPr>
              <a:t>▪  It also renders MP4/GIF at 10× time-lapse, and the ROS 2 backend drives the same scene live in rviz2 / Gazebo.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Simulation — the live, interactive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A live simulator, not a recording — the noise, the delay and the adaptation are all running while you watch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The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16</a:t>
            </a:r>
          </a:p>
        </p:txBody>
      </p:sp>
      <p:pic>
        <p:nvPicPr>
          <p:cNvPr id="8" name="Picture 7" descr="live_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5592927" cy="30329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15887" y="1298448"/>
            <a:ext cx="5272888" cy="4974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430" b="1" i="0">
                <a:solidFill>
                  <a:srgbClr val="0F253F"/>
                </a:solidFill>
                <a:latin typeface="Calibri"/>
              </a:rPr>
              <a:t>Real-time physics in the browser — drive it during the talk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0" i="0">
                <a:solidFill>
                  <a:srgbClr val="1F2428"/>
                </a:solidFill>
                <a:latin typeface="Calibri"/>
              </a:rPr>
              <a:t>▪  demo/cacc_live_sim.html — the CTHP law, the double-integrator vehicle with lag τ, and the 16-bit multiplicative channel, ported from the project core and integrated live.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30" b="1" i="0">
                <a:solidFill>
                  <a:srgbClr val="0F253F"/>
                </a:solidFill>
                <a:latin typeface="Calibri"/>
              </a:rPr>
              <a:t>What the sliders do</a:t>
            </a:r>
          </a:p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260" b="0" i="0">
                <a:solidFill>
                  <a:srgbClr val="0F253F"/>
                </a:solidFill>
                <a:latin typeface="Consolas"/>
              </a:rPr>
              <a:t>channel quality ρ · V2V delay θ · packet loss · leader manoeuvre · platoon length · QoS-adaptive headway on/off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30" b="1" i="0">
                <a:solidFill>
                  <a:srgbClr val="0F253F"/>
                </a:solidFill>
                <a:latin typeface="Calibri"/>
              </a:rPr>
              <a:t>The captured state above: the Interference preset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ρ dropped 5.0 → 3.0, and with QoS adaptation ENABLED the headway opened 0.95 → 1.17 s on its own; worst per-hop L₂ held at 1.00× and the minimum bumper gap stayed at 22.1 m.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That is Phase 3 (D-016) happening live: the platoon detects a degraded channel it was never told about and buys back the margin in headway.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0" i="0">
                <a:solidFill>
                  <a:srgbClr val="1F2428"/>
                </a:solidFill>
                <a:latin typeface="Calibri"/>
              </a:rPr>
              <a:t>▪  The V2V panel shows it directly — the received w·a₁ trace visibly thickens into a noise band around the true a₁(t).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A82B2B"/>
                </a:solidFill>
                <a:latin typeface="Calibri"/>
              </a:rPr>
              <a:t>▪  Turn adaptation OFF at the same ρ and the per-hop L₂ climbs above 1 — the failure the base paper predicts, on demand.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Simulation — the ROS 2 distributed backend,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ros2 launch cacc_platoon platoon.launch.py — one OS process per vehicle, running the same control code as every other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The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17</a:t>
            </a:r>
          </a:p>
        </p:txBody>
      </p:sp>
      <p:pic>
        <p:nvPicPr>
          <p:cNvPr id="8" name="Picture 7" descr="20260706-190642_cthp_n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333" y="1298448"/>
            <a:ext cx="5753028" cy="16875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068299"/>
            <a:ext cx="11185855" cy="43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45505B"/>
                </a:solidFill>
                <a:latin typeface="Calibri"/>
              </a:rPr>
              <a:t>Noiseless case A, 6 followers, 200 s, recorded off the live node graph. Per-hop L₂ amplification [0.976, 0.994, 0.996, 0.994, 0.994] against the offline core's uniform 0.9973 — every bar below 1, so the equations survive being distributed across OS processes.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94333"/>
            <a:ext cx="11185855" cy="26784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305" b="1" i="0">
                <a:solidFill>
                  <a:srgbClr val="0F253F"/>
                </a:solidFill>
                <a:latin typeface="Calibri"/>
              </a:rPr>
              <a:t>THIS IS NOT A LOOP OVER TWELVE VEHICLES — IT IS TWELVE PROGRAMS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225" b="1" i="0">
                <a:solidFill>
                  <a:srgbClr val="0E7C66"/>
                </a:solidFill>
                <a:latin typeface="Calibri"/>
              </a:rPr>
              <a:t>▪  leader · v2v</a:t>
            </a:r>
            <a:r>
              <a:rPr sz="955" b="1" i="0" baseline="-21000">
                <a:solidFill>
                  <a:srgbClr val="0E7C66"/>
                </a:solidFill>
                <a:latin typeface="Calibri"/>
              </a:rPr>
              <a:t>channel</a:t>
            </a:r>
            <a:r>
              <a:rPr sz="1225" b="1" i="0">
                <a:solidFill>
                  <a:srgbClr val="0E7C66"/>
                </a:solidFill>
                <a:latin typeface="Calibri"/>
              </a:rPr>
              <a:t> · recorder · vehicle_1…N (+ viz), each its own process, discovering each other over DDS. No shared memory, no global clock.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225" b="1" i="0">
                <a:solidFill>
                  <a:srgbClr val="0E7C66"/>
                </a:solidFill>
                <a:latin typeface="Calibri"/>
              </a:rPr>
              <a:t>▪  The vehicle nodes IMPORT cacc.vehicle and cacc.controllers, so they run LITERALLY the same control-law code as the offline core — no second implementation to drift.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305" b="1" i="0">
                <a:solidFill>
                  <a:srgbClr val="0F253F"/>
                </a:solidFill>
                <a:latin typeface="Calibri"/>
              </a:rPr>
              <a:t>What the live view shows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225" b="0" i="0">
                <a:solidFill>
                  <a:srgbClr val="1F2428"/>
                </a:solidFill>
                <a:latin typeface="Calibri"/>
              </a:rPr>
              <a:t>▪  rviz2 — markers coloured green→red by |spacing error|, camera riding the platoon.   Gazebo (gz-sim Harmonic) — a 3-D highway; cars are KINEMATIC, teleported to their CACC positions each tick, so it RENDERS the validated dynamics without simulating them.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305" b="1" i="0">
                <a:solidFill>
                  <a:srgbClr val="0F253F"/>
                </a:solidFill>
                <a:latin typeface="Calibri"/>
              </a:rPr>
              <a:t>What distribution costs — and why it still agrees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225" b="1" i="0">
                <a:solidFill>
                  <a:srgbClr val="0E7C66"/>
                </a:solidFill>
                <a:latin typeface="Calibri"/>
              </a:rPr>
              <a:t>▪  Per-vehicle RK4, neighbour inputs held at 100 Hz, radar extrapolated by message age. WSL2 freezes every process ≈1.4 s per ≈32 s, so nodes integrate over MEASURED elapsed time and a stall causes no frame mismatch.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225" b="1" i="0">
                <a:solidFill>
                  <a:srgbClr val="0E7C66"/>
                </a:solidFill>
                <a:latin typeface="Calibri"/>
              </a:rPr>
              <a:t>▪  Agreement with the core stays inside 2 % per hop under real OS jitter — the Phase-2 claim, and the run that backs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12536"/>
            <a:ext cx="11185855" cy="55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Under ρ = 5 noise each link draws its own realisation, so the per-hop ratios scatter around 1 (the core, run with w held 40 ms like the 25 Hz beacons, scatters over [0.948, 1.028] and brackets the ROS observations). The crisp string-stability verdict is therefore taken on the noiseless config.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Results — the base paper reproduced, number by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1B6EA8"/>
                </a:solidFill>
                <a:latin typeface="Calibri"/>
              </a:rPr>
              <a:t>Every printed number in §IV, checked against our Simulink run (matlab/results/run_all_log.txt)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3173661" cy="311531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39596"/>
            <a:ext cx="306393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Quantity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6581" y="1298448"/>
            <a:ext cx="2237171" cy="311531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0589" y="1339596"/>
            <a:ext cx="212744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13752" y="1298448"/>
            <a:ext cx="2445279" cy="311531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77760" y="1339596"/>
            <a:ext cx="2335551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59031" y="1298448"/>
            <a:ext cx="1716898" cy="311531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3039" y="1339596"/>
            <a:ext cx="1607170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Rel. err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75929" y="1298448"/>
            <a:ext cx="1612844" cy="311531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39937" y="1339596"/>
            <a:ext cx="150311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609979"/>
            <a:ext cx="3173661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1646555"/>
            <a:ext cx="306393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h</a:t>
            </a:r>
            <a:r>
              <a:rPr sz="943" b="0" i="0" baseline="-21000">
                <a:solidFill>
                  <a:srgbClr val="1F2428"/>
                </a:solidFill>
                <a:latin typeface="Calibri"/>
              </a:rPr>
              <a:t>w,lb</a:t>
            </a:r>
            <a:r>
              <a:rPr sz="1210" b="0" i="0">
                <a:solidFill>
                  <a:srgbClr val="1F2428"/>
                </a:solidFill>
                <a:latin typeface="Calibri"/>
              </a:rPr>
              <a:t>  (k</a:t>
            </a:r>
            <a:r>
              <a:rPr sz="943" b="0" i="0" baseline="-21000">
                <a:solidFill>
                  <a:srgbClr val="1F2428"/>
                </a:solidFill>
                <a:latin typeface="Calibri"/>
              </a:rPr>
              <a:t>a</a:t>
            </a:r>
            <a:r>
              <a:rPr sz="1210" b="0" i="0">
                <a:solidFill>
                  <a:srgbClr val="1F2428"/>
                </a:solidFill>
                <a:latin typeface="Calibri"/>
              </a:rPr>
              <a:t> = 0.5)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6581" y="1609979"/>
            <a:ext cx="2237171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0589" y="1646555"/>
            <a:ext cx="212744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0.9375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13752" y="1609979"/>
            <a:ext cx="2445279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77760" y="1646555"/>
            <a:ext cx="2335551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0.937500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59031" y="1609979"/>
            <a:ext cx="1716898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3039" y="1646555"/>
            <a:ext cx="1607170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0.00 %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75929" y="1609979"/>
            <a:ext cx="1612844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39937" y="1646555"/>
            <a:ext cx="150311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EXACT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1921510"/>
            <a:ext cx="3173661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1958086"/>
            <a:ext cx="306393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k</a:t>
            </a:r>
            <a:r>
              <a:rPr sz="943" b="0" i="0" baseline="-21000">
                <a:solidFill>
                  <a:srgbClr val="1F2428"/>
                </a:solidFill>
                <a:latin typeface="Calibri"/>
              </a:rPr>
              <a:t>a</a:t>
            </a:r>
            <a:r>
              <a:rPr sz="1210" b="0" i="0">
                <a:solidFill>
                  <a:srgbClr val="1F2428"/>
                </a:solidFill>
                <a:latin typeface="Calibri"/>
              </a:rPr>
              <a:t>*  (eq. 18)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6581" y="1921510"/>
            <a:ext cx="2237171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0589" y="1958086"/>
            <a:ext cx="212744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0.3183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13752" y="1921510"/>
            <a:ext cx="2445279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77760" y="1958086"/>
            <a:ext cx="2335551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0.318305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59031" y="1921510"/>
            <a:ext cx="1716898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3039" y="1958086"/>
            <a:ext cx="1607170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0.00 %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75929" y="1921510"/>
            <a:ext cx="1612844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39937" y="1958086"/>
            <a:ext cx="150311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EXACT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233041"/>
            <a:ext cx="3173661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2269617"/>
            <a:ext cx="306393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h*</a:t>
            </a:r>
            <a:r>
              <a:rPr sz="943" b="0" i="0" baseline="-21000">
                <a:solidFill>
                  <a:srgbClr val="1F2428"/>
                </a:solidFill>
                <a:latin typeface="Calibri"/>
              </a:rPr>
              <a:t>w,lb</a:t>
            </a:r>
            <a:r>
              <a:rPr sz="1210" b="0" i="0">
                <a:solidFill>
                  <a:srgbClr val="1F2428"/>
                </a:solidFill>
                <a:latin typeface="Calibri"/>
              </a:rPr>
              <a:t>  (eq. 19)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76581" y="2233041"/>
            <a:ext cx="2237171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0589" y="2269617"/>
            <a:ext cx="212744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0.8727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13752" y="2233041"/>
            <a:ext cx="2445279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77760" y="2269617"/>
            <a:ext cx="2335551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0.872678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59031" y="2233041"/>
            <a:ext cx="1716898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23039" y="2269617"/>
            <a:ext cx="1607170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0.00 %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75929" y="2233041"/>
            <a:ext cx="1612844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39937" y="2269617"/>
            <a:ext cx="150311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EXACT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2544572"/>
            <a:ext cx="3173661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2581148"/>
            <a:ext cx="306393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k</a:t>
            </a:r>
            <a:r>
              <a:rPr sz="943" b="0" i="0" baseline="-21000">
                <a:solidFill>
                  <a:srgbClr val="1F2428"/>
                </a:solidFill>
                <a:latin typeface="Calibri"/>
              </a:rPr>
              <a:t>a</a:t>
            </a:r>
            <a:r>
              <a:rPr sz="1210" b="0" i="0">
                <a:solidFill>
                  <a:srgbClr val="1F2428"/>
                </a:solidFill>
                <a:latin typeface="Calibri"/>
              </a:rPr>
              <a:t> upper bound  1/(1+1/ρ)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76581" y="2544572"/>
            <a:ext cx="2237171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40589" y="2581148"/>
            <a:ext cx="212744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0.8333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13752" y="2544572"/>
            <a:ext cx="2445279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77760" y="2581148"/>
            <a:ext cx="2335551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0.833333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59031" y="2544572"/>
            <a:ext cx="1716898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23039" y="2581148"/>
            <a:ext cx="1607170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0.00 %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75929" y="2544572"/>
            <a:ext cx="1612844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39937" y="2581148"/>
            <a:ext cx="150311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EXACT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2856103"/>
            <a:ext cx="3173661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2892679"/>
            <a:ext cx="306393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Case 1  max|δ₁| → max|δ₁₂|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76581" y="2856103"/>
            <a:ext cx="2237171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40589" y="2892679"/>
            <a:ext cx="212744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1.593 → 1.535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13752" y="2856103"/>
            <a:ext cx="2445279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77760" y="2892679"/>
            <a:ext cx="2335551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1.5959 → 1.5436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59031" y="2856103"/>
            <a:ext cx="1716898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23039" y="2892679"/>
            <a:ext cx="1607170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0.18 / 0.56 %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75929" y="2856103"/>
            <a:ext cx="1612844" cy="3115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39937" y="2892679"/>
            <a:ext cx="150311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attenuating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3167634"/>
            <a:ext cx="3173661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8" y="3204210"/>
            <a:ext cx="306393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Case 2  max|δ₁| → max|δ₁₂|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76581" y="3167634"/>
            <a:ext cx="2237171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40589" y="3204210"/>
            <a:ext cx="212744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0.882 → 0.886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13752" y="3167634"/>
            <a:ext cx="2445279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77760" y="3204210"/>
            <a:ext cx="2335551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0.8821 → 0.8872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59031" y="3167634"/>
            <a:ext cx="1716898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23039" y="3204210"/>
            <a:ext cx="1607170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0.02 / 0.13 %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75929" y="3167634"/>
            <a:ext cx="1612844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139937" y="3204210"/>
            <a:ext cx="150311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A82B2B"/>
                </a:solidFill>
                <a:latin typeface="Calibri"/>
              </a:rPr>
              <a:t>AMPLIFYING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3479165"/>
            <a:ext cx="3173661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6928" y="3515741"/>
            <a:ext cx="306393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Case 3  max|δ₁| → max|δ₁₂|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76581" y="3479165"/>
            <a:ext cx="2237171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40589" y="3515741"/>
            <a:ext cx="212744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0.802 → 0.798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13752" y="3479165"/>
            <a:ext cx="2445279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77760" y="3515741"/>
            <a:ext cx="2335551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0.9256 → 0.9208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59031" y="3479165"/>
            <a:ext cx="1716898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23039" y="3515741"/>
            <a:ext cx="1607170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B56B00"/>
                </a:solidFill>
                <a:latin typeface="Calibri"/>
              </a:rPr>
              <a:t>15.4 %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75929" y="3479165"/>
            <a:ext cx="1612844" cy="311531"/>
          </a:xfrm>
          <a:prstGeom prst="rect">
            <a:avLst/>
          </a:prstGeom>
          <a:solidFill>
            <a:srgbClr val="FFF3DA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139937" y="3515741"/>
            <a:ext cx="150311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B56B00"/>
                </a:solidFill>
                <a:latin typeface="Calibri"/>
              </a:rPr>
              <a:t>open item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2920" y="3790696"/>
            <a:ext cx="3173661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66928" y="3827272"/>
            <a:ext cx="306393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Case 4  platoon length, h = 0.95 / 0.88 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76581" y="3790696"/>
            <a:ext cx="2237171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40589" y="3827272"/>
            <a:ext cx="2127443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345.0 / 324.0 m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913752" y="3790696"/>
            <a:ext cx="2445279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77760" y="3827272"/>
            <a:ext cx="2335551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345.00 / 324.00 m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359031" y="3790696"/>
            <a:ext cx="1716898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423039" y="3827272"/>
            <a:ext cx="1607170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0.00 %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075929" y="3790696"/>
            <a:ext cx="1612844" cy="31153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139937" y="3827272"/>
            <a:ext cx="150311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EXACT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" y="4102227"/>
            <a:ext cx="3173661" cy="51790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66928" y="4138803"/>
            <a:ext cx="3063933" cy="517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Case 5  max|a₁| → max|a₁₂|, heterogeneous τᵢ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676581" y="4102227"/>
            <a:ext cx="2237171" cy="51790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40589" y="4138803"/>
            <a:ext cx="2127443" cy="517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≈0.49 → ≈0.455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913752" y="4102227"/>
            <a:ext cx="2445279" cy="51790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977760" y="4138803"/>
            <a:ext cx="2335551" cy="517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0.4962 → 0.4523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359031" y="4102227"/>
            <a:ext cx="1716898" cy="51790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423039" y="4138803"/>
            <a:ext cx="1607170" cy="517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≈1 %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75929" y="4102227"/>
            <a:ext cx="1612844" cy="51790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139937" y="4138803"/>
            <a:ext cx="1503116" cy="517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τ∈(0,τ₀] holds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02920" y="4748149"/>
            <a:ext cx="1118585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Independent cross-checks, each by a DIFFERENT route: eq. (25) residual 1.8e−12 · a 400 001-point grid search puts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a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* at 0.318304 vs the closed form 0.318305 · Routh–Hurwitz agrees with roots(D) · Remark 4 limits recover 0.6667 / 1.0000 / 0.5000 as ρ → ∞ · and a counterexample (k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a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=0.5,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v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=0.70, k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p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=0.009, h</a:t>
            </a:r>
            <a:r>
              <a:rPr sz="936" b="0" i="1" baseline="-21000">
                <a:solidFill>
                  <a:srgbClr val="45505B"/>
                </a:solidFill>
                <a:latin typeface="Calibri"/>
              </a:rPr>
              <a:t>w</a:t>
            </a:r>
            <a:r>
              <a:rPr sz="1200" b="0" i="1">
                <a:solidFill>
                  <a:srgbClr val="45505B"/>
                </a:solidFill>
                <a:latin typeface="Calibri"/>
              </a:rPr>
              <a:t>=1.50) fails (28a) yet has ‖H̃‖∞ = 1.000000, confirming the conditions are SUFFICIENT, not necessary.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Results — time domain: attenuating vs amplifying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12 followers, 200 s, identical leader manoeuvre — only the headway differs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19</a:t>
            </a:r>
          </a:p>
        </p:txBody>
      </p:sp>
      <p:pic>
        <p:nvPicPr>
          <p:cNvPr id="8" name="Picture 7" descr="fig07_case1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043" y="1298448"/>
            <a:ext cx="3541521" cy="3283060"/>
          </a:xfrm>
          <a:prstGeom prst="rect">
            <a:avLst/>
          </a:prstGeom>
        </p:spPr>
      </p:pic>
      <p:pic>
        <p:nvPicPr>
          <p:cNvPr id="9" name="Picture 8" descr="fig10_case2_del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976" y="1298448"/>
            <a:ext cx="3593828" cy="32830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663804"/>
            <a:ext cx="5455767" cy="43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45505B"/>
                </a:solidFill>
                <a:latin typeface="Calibri"/>
              </a:rPr>
              <a:t>Case 1, h</a:t>
            </a:r>
            <a:r>
              <a:rPr sz="897" b="0" i="1" baseline="-21000">
                <a:solidFill>
                  <a:srgbClr val="45505B"/>
                </a:solidFill>
                <a:latin typeface="Calibri"/>
              </a:rPr>
              <a:t>w</a:t>
            </a:r>
            <a:r>
              <a:rPr sz="1150" b="0" i="1">
                <a:solidFill>
                  <a:srgbClr val="45505B"/>
                </a:solidFill>
                <a:latin typeface="Calibri"/>
              </a:rPr>
              <a:t> = 0.95 s &gt; h</a:t>
            </a:r>
            <a:r>
              <a:rPr sz="897" b="0" i="1" baseline="-21000">
                <a:solidFill>
                  <a:srgbClr val="45505B"/>
                </a:solidFill>
                <a:latin typeface="Calibri"/>
              </a:rPr>
              <a:t>lb</a:t>
            </a:r>
            <a:r>
              <a:rPr sz="1150" b="0" i="1">
                <a:solidFill>
                  <a:srgbClr val="45505B"/>
                </a:solidFill>
                <a:latin typeface="Calibri"/>
              </a:rPr>
              <a:t> = 0.9375 s. Peaks SHRINK down the string: 1.5959 → 1.5436 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4663804"/>
            <a:ext cx="5455767" cy="43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45505B"/>
                </a:solidFill>
                <a:latin typeface="Calibri"/>
              </a:rPr>
              <a:t>Case 2, h</a:t>
            </a:r>
            <a:r>
              <a:rPr sz="897" b="0" i="1" baseline="-21000">
                <a:solidFill>
                  <a:srgbClr val="45505B"/>
                </a:solidFill>
                <a:latin typeface="Calibri"/>
              </a:rPr>
              <a:t>w</a:t>
            </a:r>
            <a:r>
              <a:rPr sz="1150" b="0" i="1">
                <a:solidFill>
                  <a:srgbClr val="45505B"/>
                </a:solidFill>
                <a:latin typeface="Calibri"/>
              </a:rPr>
              <a:t> = 0.65 s &lt; h</a:t>
            </a:r>
            <a:r>
              <a:rPr sz="897" b="0" i="1" baseline="-21000">
                <a:solidFill>
                  <a:srgbClr val="45505B"/>
                </a:solidFill>
                <a:latin typeface="Calibri"/>
              </a:rPr>
              <a:t>lb</a:t>
            </a:r>
            <a:r>
              <a:rPr sz="1150" b="0" i="1">
                <a:solidFill>
                  <a:srgbClr val="45505B"/>
                </a:solidFill>
                <a:latin typeface="Calibri"/>
              </a:rPr>
              <a:t>. Same gains, same leader. Peaks GROW: 0.8821 → 0.8872 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89838"/>
            <a:ext cx="11185855" cy="1082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▪  Case 2 is the strongest single check in the whole reproduction: the headway is violated by only 6 % and the growth is 0.5 % over 11 hops, yet we match the paper to 0.02 % INCLUDING the direction of the trend.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▪  Finding — the paper's time-domain figures come from the EQUIVALENT DETERMINISTIC system (eq. 13 / Remark 5), not from stochastic realisations. We proved this by running all three channel modes: only 'mean' mode gives the monotone max|δᵢ| profiles the paper prints.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Results — frequency domain and the design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The verdict the time traces cannot give: ‖H̃‖∞ over the whole uncertainty interval I = [(1−1/ρ)k</a:t>
            </a:r>
            <a:r>
              <a:rPr sz="1092" b="0" i="1" baseline="-21000">
                <a:solidFill>
                  <a:srgbClr val="0E7C66"/>
                </a:solidFill>
                <a:latin typeface="Calibri"/>
              </a:rPr>
              <a:t>a</a:t>
            </a:r>
            <a:r>
              <a:rPr sz="1400" b="0" i="1">
                <a:solidFill>
                  <a:srgbClr val="0E7C66"/>
                </a:solidFill>
                <a:latin typeface="Calibri"/>
              </a:rPr>
              <a:t>, (1+1/ρ)k</a:t>
            </a:r>
            <a:r>
              <a:rPr sz="1092" b="0" i="1" baseline="-21000">
                <a:solidFill>
                  <a:srgbClr val="0E7C66"/>
                </a:solidFill>
                <a:latin typeface="Calibri"/>
              </a:rPr>
              <a:t>a</a:t>
            </a:r>
            <a:r>
              <a:rPr sz="1400" b="0" i="1">
                <a:solidFill>
                  <a:srgbClr val="0E7C66"/>
                </a:solidFill>
                <a:latin typeface="Calibri"/>
              </a:rPr>
              <a:t>]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20</a:t>
            </a:r>
          </a:p>
        </p:txBody>
      </p:sp>
      <p:pic>
        <p:nvPicPr>
          <p:cNvPr id="8" name="Picture 7" descr="fig06_freq_cas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3545738" cy="2867969"/>
          </a:xfrm>
          <a:prstGeom prst="rect">
            <a:avLst/>
          </a:prstGeom>
        </p:spPr>
      </p:pic>
      <p:pic>
        <p:nvPicPr>
          <p:cNvPr id="9" name="Picture 8" descr="fig09_freq_cas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978" y="1298448"/>
            <a:ext cx="3545738" cy="2867969"/>
          </a:xfrm>
          <a:prstGeom prst="rect">
            <a:avLst/>
          </a:prstGeom>
        </p:spPr>
      </p:pic>
      <p:pic>
        <p:nvPicPr>
          <p:cNvPr id="10" name="Picture 9" descr="fig05_feasible_cas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036" y="1298448"/>
            <a:ext cx="3545738" cy="2739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4248713"/>
            <a:ext cx="3545738" cy="43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45505B"/>
                </a:solidFill>
                <a:latin typeface="Calibri"/>
              </a:rPr>
              <a:t>Case 1: sup over I and ω of |H̃| = 1.000000 → robustly string stable.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2978" y="4248713"/>
            <a:ext cx="3545738" cy="43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45505B"/>
                </a:solidFill>
                <a:latin typeface="Calibri"/>
              </a:rPr>
              <a:t>Case 2: 1.003500, i.e. 0.35 % above unity → string UNSTABLE.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3036" y="4248713"/>
            <a:ext cx="3545738" cy="43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45505B"/>
                </a:solidFill>
                <a:latin typeface="Calibri"/>
              </a:rPr>
              <a:t>The feasible (k</a:t>
            </a:r>
            <a:r>
              <a:rPr sz="897" b="0" i="1" baseline="-21000">
                <a:solidFill>
                  <a:srgbClr val="45505B"/>
                </a:solidFill>
                <a:latin typeface="Calibri"/>
              </a:rPr>
              <a:t>v</a:t>
            </a:r>
            <a:r>
              <a:rPr sz="1150" b="0" i="1">
                <a:solidFill>
                  <a:srgbClr val="45505B"/>
                </a:solidFill>
                <a:latin typeface="Calibri"/>
              </a:rPr>
              <a:t>, k</a:t>
            </a:r>
            <a:r>
              <a:rPr sz="897" b="0" i="1" baseline="-21000">
                <a:solidFill>
                  <a:srgbClr val="45505B"/>
                </a:solidFill>
                <a:latin typeface="Calibri"/>
              </a:rPr>
              <a:t>p</a:t>
            </a:r>
            <a:r>
              <a:rPr sz="1150" b="0" i="1">
                <a:solidFill>
                  <a:srgbClr val="45505B"/>
                </a:solidFill>
                <a:latin typeface="Calibri"/>
              </a:rPr>
              <a:t>) polygon; a₁/a₂ = 1.0133 &gt; 1 ⟹ non-empty.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74747"/>
            <a:ext cx="11185855" cy="14980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A82B2B"/>
                </a:solidFill>
                <a:latin typeface="Calibri"/>
              </a:rPr>
              <a:t>▪  THE LOW END OF I BINDS. Case 2 gives 1.003500 at k̃</a:t>
            </a:r>
            <a:r>
              <a:rPr sz="1014" b="1" i="0" baseline="-21000">
                <a:solidFill>
                  <a:srgbClr val="A82B2B"/>
                </a:solidFill>
                <a:latin typeface="Calibri"/>
              </a:rPr>
              <a:t>a</a:t>
            </a:r>
            <a:r>
              <a:rPr sz="1300" b="1" i="0">
                <a:solidFill>
                  <a:srgbClr val="A82B2B"/>
                </a:solidFill>
                <a:latin typeface="Calibri"/>
              </a:rPr>
              <a:t> = 0.40, 1.001164 at the mean, and 1.000000 at k̃</a:t>
            </a:r>
            <a:r>
              <a:rPr sz="1014" b="1" i="0" baseline="-21000">
                <a:solidFill>
                  <a:srgbClr val="A82B2B"/>
                </a:solidFill>
                <a:latin typeface="Calibri"/>
              </a:rPr>
              <a:t>a</a:t>
            </a:r>
            <a:r>
              <a:rPr sz="1300" b="1" i="0">
                <a:solidFill>
                  <a:srgbClr val="A82B2B"/>
                </a:solidFill>
                <a:latin typeface="Calibri"/>
              </a:rPr>
              <a:t> = 0.60 — so evaluating only at E[w] understates the violation 3×, and evaluating at the high end declares the design SAFE.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▪  This is why hinf_worst grids k̃</a:t>
            </a:r>
            <a:r>
              <a:rPr sz="1014" b="1" i="0" baseline="-21000">
                <a:solidFill>
                  <a:srgbClr val="0E7C66"/>
                </a:solidFill>
                <a:latin typeface="Calibri"/>
              </a:rPr>
              <a:t>a</a:t>
            </a:r>
            <a:r>
              <a:rPr sz="1300" b="1" i="0">
                <a:solidFill>
                  <a:srgbClr val="0E7C66"/>
                </a:solidFill>
                <a:latin typeface="Calibri"/>
              </a:rPr>
              <a:t> across the whole interval I = [0.4, 0.6] instead of assuming which endpoint is worst.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B5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Results — the gaps we found, and what closed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B56B00"/>
                </a:solidFill>
                <a:latin typeface="Calibri"/>
              </a:rPr>
              <a:t>Phases 1–4 — each an assumption of the base paper, removed and measured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021317" cy="311531"/>
          </a:xfrm>
          <a:prstGeom prst="rect">
            <a:avLst/>
          </a:prstGeom>
          <a:solidFill>
            <a:srgbClr val="B5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39596"/>
            <a:ext cx="911589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24237" y="1298448"/>
            <a:ext cx="3598927" cy="311531"/>
          </a:xfrm>
          <a:prstGeom prst="rect">
            <a:avLst/>
          </a:prstGeom>
          <a:solidFill>
            <a:srgbClr val="B5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88245" y="1339596"/>
            <a:ext cx="3489199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Gap found in the paper's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3164" y="1298448"/>
            <a:ext cx="3209854" cy="311531"/>
          </a:xfrm>
          <a:prstGeom prst="rect">
            <a:avLst/>
          </a:prstGeom>
          <a:solidFill>
            <a:srgbClr val="B5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7172" y="1339596"/>
            <a:ext cx="3100126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With our extension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33018" y="1298448"/>
            <a:ext cx="3355756" cy="311531"/>
          </a:xfrm>
          <a:prstGeom prst="rect">
            <a:avLst/>
          </a:prstGeom>
          <a:solidFill>
            <a:srgbClr val="B5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7026" y="1339596"/>
            <a:ext cx="3246028" cy="311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buys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609979"/>
            <a:ext cx="1021317" cy="11370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646555"/>
            <a:ext cx="911589" cy="1137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F253F"/>
                </a:solidFill>
                <a:latin typeface="Calibri"/>
              </a:rPr>
              <a:t>1  delay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F253F"/>
                </a:solidFill>
                <a:latin typeface="Calibri"/>
              </a:rPr>
              <a:t>  &amp; loss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24237" y="1609979"/>
            <a:ext cx="3598927" cy="11370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88245" y="1646555"/>
            <a:ext cx="3489199" cy="1137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at FIXED case-A gains: noiseless h</a:t>
            </a:r>
            <a:r>
              <a:rPr sz="943" b="0" i="0" baseline="-21000">
                <a:solidFill>
                  <a:srgbClr val="1F2428"/>
                </a:solidFill>
                <a:latin typeface="Calibri"/>
              </a:rPr>
              <a:t>min</a:t>
            </a:r>
            <a:r>
              <a:rPr sz="1210" b="0" i="0">
                <a:solidFill>
                  <a:srgbClr val="1F2428"/>
                </a:solidFill>
                <a:latin typeface="Calibri"/>
              </a:rPr>
              <a:t>(0) = 0.789 s, and h</a:t>
            </a:r>
            <a:r>
              <a:rPr sz="943" b="0" i="0" baseline="-21000">
                <a:solidFill>
                  <a:srgbClr val="1F2428"/>
                </a:solidFill>
                <a:latin typeface="Calibri"/>
              </a:rPr>
              <a:t>min</a:t>
            </a:r>
            <a:r>
              <a:rPr sz="1210" b="0" i="0">
                <a:solidFill>
                  <a:srgbClr val="1F2428"/>
                </a:solidFill>
                <a:latin typeface="Calibri"/>
              </a:rPr>
              <a:t> ≤ 0.95 s only until θ ≈ 0.23 s.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packet loss 0 → 50 %: L₂ amplification 1.007 → 1.013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3164" y="1609979"/>
            <a:ext cx="3209854" cy="11370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7172" y="1646555"/>
            <a:ext cx="3100126" cy="1137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with the timestamp predictor at θ = 0.15 s: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‖H̃‖∞ 1.00923 → 1.00000, and h</a:t>
            </a:r>
            <a:r>
              <a:rPr sz="943" b="1" i="0" baseline="-21000">
                <a:solidFill>
                  <a:srgbClr val="0E7C66"/>
                </a:solidFill>
                <a:latin typeface="Calibri"/>
              </a:rPr>
              <a:t>min</a:t>
            </a:r>
            <a:r>
              <a:rPr sz="1210" b="1" i="0">
                <a:solidFill>
                  <a:srgbClr val="0E7C66"/>
                </a:solidFill>
                <a:latin typeface="Calibri"/>
              </a:rPr>
              <a:t>(θ) FLATLINES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33018" y="1609979"/>
            <a:ext cx="3355756" cy="1137031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7026" y="1646555"/>
            <a:ext cx="3246028" cy="1137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F253F"/>
                </a:solidFill>
                <a:latin typeface="Calibri"/>
              </a:rPr>
              <a:t>DELAY, not noise, is the binding constraint — the paper's own design keeps only ≈0.2 s of budget. Loss degrades gracefully.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747010"/>
            <a:ext cx="1021317" cy="72428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2783586"/>
            <a:ext cx="911589" cy="724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F253F"/>
                </a:solidFill>
                <a:latin typeface="Calibri"/>
              </a:rPr>
              <a:t>2  distribute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24237" y="2747010"/>
            <a:ext cx="3598927" cy="72428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88245" y="2783586"/>
            <a:ext cx="3489199" cy="724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a monolithic simulator hides everything real execution adds: OS scheduling jitter, message age, per-vehicle clock skew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3164" y="2747010"/>
            <a:ext cx="3209854" cy="72428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87172" y="2783586"/>
            <a:ext cx="3100126" cy="724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one OS process per vehicle on ROS 2, wall-clock substepped RK4, radar extrapolated by message-stamp 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33018" y="2747010"/>
            <a:ext cx="3355756" cy="724281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7026" y="2783586"/>
            <a:ext cx="3246028" cy="724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F253F"/>
                </a:solidFill>
                <a:latin typeface="Calibri"/>
              </a:rPr>
              <a:t>&lt; 2 % per-hop agreement with the offline core under real jitter — the equations survive being distributed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471291"/>
            <a:ext cx="1021317" cy="9306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507867"/>
            <a:ext cx="911589" cy="930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F253F"/>
                </a:solidFill>
                <a:latin typeface="Calibri"/>
              </a:rPr>
              <a:t>3  adapt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24237" y="3471291"/>
            <a:ext cx="3598927" cy="9306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88245" y="3507867"/>
            <a:ext cx="3489199" cy="930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an interference zone ρ 10 → 3 → 10 with a FIXED headway leaves the platoon string-unstable for the whole time it is inside the zone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3164" y="3471291"/>
            <a:ext cx="3209854" cy="9306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87172" y="3507867"/>
            <a:ext cx="3100126" cy="930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ρ̂ median {10.4, 3.1, 10.7} vs true {10, 3, 10};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median zone tracking error 4.75 %; headway opens and recovers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33018" y="3471291"/>
            <a:ext cx="3355756" cy="930656"/>
          </a:xfrm>
          <a:prstGeom prst="rect">
            <a:avLst/>
          </a:prstGeom>
          <a:solidFill>
            <a:srgbClr val="F1F4F8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7026" y="3507867"/>
            <a:ext cx="3246028" cy="930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F253F"/>
                </a:solidFill>
                <a:latin typeface="Calibri"/>
              </a:rPr>
              <a:t>estimable online only with a near-perfect radar: 0.05 m/s² of radar error collapses ρ̂ (D-028); a sender-reported ρ fixes 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401947"/>
            <a:ext cx="1021317" cy="9306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4438523"/>
            <a:ext cx="911589" cy="930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F253F"/>
                </a:solidFill>
                <a:latin typeface="Calibri"/>
              </a:rPr>
              <a:t>4  re-tune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24237" y="4401947"/>
            <a:ext cx="3598927" cy="9306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88245" y="4438523"/>
            <a:ext cx="3489199" cy="930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ρ = 2 zone, headway-only adaptation: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h settles at 2.50 s with k</a:t>
            </a:r>
            <a:r>
              <a:rPr sz="943" b="0" i="0" baseline="-21000">
                <a:solidFill>
                  <a:srgbClr val="1F2428"/>
                </a:solidFill>
                <a:latin typeface="Calibri"/>
              </a:rPr>
              <a:t>v</a:t>
            </a:r>
            <a:r>
              <a:rPr sz="1210" b="0" i="0">
                <a:solidFill>
                  <a:srgbClr val="1F2428"/>
                </a:solidFill>
                <a:latin typeface="Calibri"/>
              </a:rPr>
              <a:t> = 0.63, in-force ‖H̃‖∞ = 1.019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0" i="0">
                <a:solidFill>
                  <a:srgbClr val="1F2428"/>
                </a:solidFill>
                <a:latin typeface="Calibri"/>
              </a:rPr>
              <a:t>⟹ STILL UNSTABLE at any headway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3164" y="4401947"/>
            <a:ext cx="3209854" cy="9306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87172" y="4438523"/>
            <a:ext cx="3100126" cy="930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joint gain + headway adaptation:</a:t>
            </a:r>
          </a:p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E7C66"/>
                </a:solidFill>
                <a:latin typeface="Calibri"/>
              </a:rPr>
              <a:t>h = 2.331 s, k</a:t>
            </a:r>
            <a:r>
              <a:rPr sz="943" b="1" i="0" baseline="-21000">
                <a:solidFill>
                  <a:srgbClr val="0E7C66"/>
                </a:solidFill>
                <a:latin typeface="Calibri"/>
              </a:rPr>
              <a:t>v</a:t>
            </a:r>
            <a:r>
              <a:rPr sz="1210" b="1" i="0">
                <a:solidFill>
                  <a:srgbClr val="0E7C66"/>
                </a:solidFill>
                <a:latin typeface="Calibri"/>
              </a:rPr>
              <a:t> = 0.353, ‖H̃‖∞ = 0.99999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33018" y="4401947"/>
            <a:ext cx="3355756" cy="9306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97026" y="4438523"/>
            <a:ext cx="3246028" cy="930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"/>
              </a:spcAft>
            </a:pPr>
            <a:r>
              <a:rPr sz="1210" b="1" i="0">
                <a:solidFill>
                  <a:srgbClr val="0F253F"/>
                </a:solidFill>
                <a:latin typeface="Calibri"/>
              </a:rPr>
              <a:t>(28a) caps γ INDEPENDENTLY of h</a:t>
            </a:r>
            <a:r>
              <a:rPr sz="943" b="1" i="0" baseline="-21000">
                <a:solidFill>
                  <a:srgbClr val="0F253F"/>
                </a:solidFill>
                <a:latin typeface="Calibri"/>
              </a:rPr>
              <a:t>w</a:t>
            </a:r>
            <a:r>
              <a:rPr sz="1210" b="1" i="0">
                <a:solidFill>
                  <a:srgbClr val="0F253F"/>
                </a:solidFill>
                <a:latin typeface="Calibri"/>
              </a:rPr>
              <a:t>, so below ρ* ≈ 1.8 only re-tuning works — and it lands at a SHORTER headway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F253F"/>
                </a:solidFill>
                <a:latin typeface="Calibri"/>
              </a:rPr>
              <a:t>Results — flagship A and B: prediction, and surviving a 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Predictive QoS map (D-021) · physics-consistency V2V trust gate (D-022)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22</a:t>
            </a:r>
          </a:p>
        </p:txBody>
      </p:sp>
      <p:pic>
        <p:nvPicPr>
          <p:cNvPr id="8" name="Picture 7" descr="fig1_predictive_vs_re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302" y="1298448"/>
            <a:ext cx="3467003" cy="2984601"/>
          </a:xfrm>
          <a:prstGeom prst="rect">
            <a:avLst/>
          </a:prstGeom>
        </p:spPr>
      </p:pic>
      <p:pic>
        <p:nvPicPr>
          <p:cNvPr id="9" name="Picture 8" descr="fig1_spoof_def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756" y="1298448"/>
            <a:ext cx="3494269" cy="29846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365345"/>
            <a:ext cx="5455767" cy="814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45505B"/>
                </a:solidFill>
                <a:latin typeface="Calibri"/>
              </a:rPr>
              <a:t>5A — REACTIVE: h = 0.95 s at zone entry, ‖H̃‖∞ = 1.0022, 6.9 % of in-zone time string unstable, peak error 17.23 m.    PREDICTIVE (45 s look-ahead on the ρ(x) map): h = 1.234 s already at entry, ‖H̃‖∞ = 1.0000, 0.0 % unstable, peak error 14.23 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4365345"/>
            <a:ext cx="5455767" cy="814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45505B"/>
                </a:solidFill>
                <a:latin typeface="Calibri"/>
              </a:rPr>
              <a:t>5B — UNGATED under a +5 m/s² bias injected for 15 s: minimum gap −27.4 m, i.e. a COLLISION, peak error 50.5 m.    GATED: minimum gap +8.37 m, no collision, peak error 14.24 m, injection capped, minimum trust weight 0.254.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271109"/>
            <a:ext cx="11185855" cy="1001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▪  5A — the platoon is already at the right headway BEFORE it enters the degraded zone, so the instability is ELIMINATED rather than merely shortened. Reacting to a channel you have already entered is late by one adaptation time constant.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▪  5B — the same quantity arrives TWICE, over the radio and off the radar, so the gate trusts the radio only as far as physics allows. Caveat (D-028): a LAGGED radar makes it distrust honest braking (collision at h = 0.8 s); matching the lag fixes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253F"/>
                </a:solidFill>
                <a:latin typeface="Calibri"/>
              </a:rPr>
              <a:t>Results — flagship C: a binary verdict replaced by a priced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Chance-constrained string-stability certificate (D-023) — exact 16-bit channel law, case-A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23</a:t>
            </a:r>
          </a:p>
        </p:txBody>
      </p:sp>
      <p:pic>
        <p:nvPicPr>
          <p:cNvPr id="8" name="Picture 7" descr="fig1_stochastic_c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5145493" cy="35507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68453" y="1298448"/>
            <a:ext cx="5720322" cy="444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430" b="1" i="0">
                <a:solidFill>
                  <a:srgbClr val="0F253F"/>
                </a:solidFill>
                <a:latin typeface="Calibri"/>
              </a:rPr>
              <a:t>The law of w is known EXACTLY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2¹⁶ = 65 536 atoms, obtained by convolving the 16 Bernoulli bit laws. So there is no need to BOUND — we can INTEGRATE.</a:t>
            </a:r>
          </a:p>
          <a:p>
            <a:pPr algn="l" marL="0" indent="0">
              <a:spcBef>
                <a:spcPts val="500"/>
              </a:spcBef>
              <a:spcAft>
                <a:spcPts val="250"/>
              </a:spcAft>
            </a:pPr>
            <a:r>
              <a:rPr sz="1430" b="1" i="0">
                <a:solidFill>
                  <a:srgbClr val="0F253F"/>
                </a:solidFill>
                <a:latin typeface="Calibri"/>
              </a:rPr>
              <a:t>At ρ = 3, case-A gains</a:t>
            </a:r>
          </a:p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260" b="0" i="0">
                <a:solidFill>
                  <a:srgbClr val="0F253F"/>
                </a:solidFill>
                <a:latin typeface="Consolas"/>
              </a:rPr>
              <a:t>worst case          h = 1.1544 s   (exceedance 0)</a:t>
            </a:r>
          </a:p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260" b="0" i="0">
                <a:solidFill>
                  <a:srgbClr val="0F253F"/>
                </a:solidFill>
                <a:latin typeface="Consolas"/>
              </a:rPr>
              <a:t>chance-constrained  h = 1.0334 s   (exceedance 0.0095)</a:t>
            </a:r>
          </a:p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260" b="0" i="0">
                <a:solidFill>
                  <a:srgbClr val="0F253F"/>
                </a:solidFill>
                <a:latin typeface="Consolas"/>
              </a:rPr>
              <a:t>chance-constrained  h = 1.0522 s   (exceedance 0.0010)</a:t>
            </a:r>
          </a:p>
          <a:p>
            <a:pPr algn="l" marL="0" indent="0">
              <a:spcBef>
                <a:spcPts val="0"/>
              </a:spcBef>
              <a:spcAft>
                <a:spcPts val="250"/>
              </a:spcAft>
            </a:pPr>
            <a:r>
              <a:rPr sz="1260" b="0" i="0">
                <a:solidFill>
                  <a:srgbClr val="0F253F"/>
                </a:solidFill>
                <a:latin typeface="Consolas"/>
              </a:rPr>
              <a:t>mean-square         h = 0.9944 s   (exceedance 0.076)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−10.5 % headway for a calibrated 1-in-100 risk budget; the analytic and Monte-Carlo exceedances agree to 3–4 decimals.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A82B2B"/>
                </a:solidFill>
                <a:latin typeface="Calibri"/>
              </a:rPr>
              <a:t>▪  The mean-square criterion is reported but REJECTED: 7.6 % exceedance at ρ = 3 is far too permissive to certify with.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12536"/>
            <a:ext cx="11185855" cy="55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45505B"/>
                </a:solidFill>
                <a:latin typeface="Calibri"/>
              </a:rPr>
              <a:t>Worst-case design pays full price for events of probability 10⁻⁶. This states the price instead — a regulator sets ε, and the method returns the headway.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F253F"/>
                </a:solidFill>
                <a:latin typeface="Calibri"/>
              </a:rPr>
              <a:t>The verdict, and what this project concludes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0E7C66"/>
                </a:solidFill>
                <a:latin typeface="Calibri"/>
              </a:rPr>
              <a:t>Monte-Carlo certification harness (D-018) — and the six things this project claims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73368"/>
            <a:ext cx="11185855" cy="9525"/>
          </a:xfrm>
          <a:prstGeom prst="rect">
            <a:avLst/>
          </a:prstGeom>
          <a:solidFill>
            <a:srgbClr val="D3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5575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45505B"/>
                </a:solidFill>
                <a:latin typeface="Calibri"/>
              </a:rPr>
              <a:t>CACC under noisy V2V  |  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2604439" cy="1874519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2604439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517904"/>
            <a:ext cx="23484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0E7C66"/>
                </a:solidFill>
                <a:latin typeface="Calibri"/>
              </a:rPr>
              <a:t>CERTIFIED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212848"/>
            <a:ext cx="23484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53F"/>
                </a:solidFill>
                <a:latin typeface="Calibri"/>
              </a:rPr>
              <a:t>the harness verdict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542032"/>
            <a:ext cx="23484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5505B"/>
                </a:solidFill>
                <a:latin typeface="Calibri"/>
              </a:rPr>
              <a:t>4 scenario families × seeds;
11 numeric checks, ALL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3391" y="1298448"/>
            <a:ext cx="2604439" cy="1874519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3391" y="1298448"/>
            <a:ext cx="2604439" cy="381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1407" y="1517904"/>
            <a:ext cx="23484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B6EA8"/>
                </a:solidFill>
                <a:latin typeface="Calibri"/>
              </a:rPr>
              <a:t>0.00 %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1407" y="2212848"/>
            <a:ext cx="23484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53F"/>
                </a:solidFill>
                <a:latin typeface="Calibri"/>
              </a:rPr>
              <a:t>reproduction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1407" y="2542032"/>
            <a:ext cx="23484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5505B"/>
                </a:solidFill>
                <a:latin typeface="Calibri"/>
              </a:rPr>
              <a:t>on all four of the paper's
closed forms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3862" y="1298448"/>
            <a:ext cx="2604439" cy="1874519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2" y="1298448"/>
            <a:ext cx="2604439" cy="38100"/>
          </a:xfrm>
          <a:prstGeom prst="rect">
            <a:avLst/>
          </a:prstGeom>
          <a:solidFill>
            <a:srgbClr val="1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1878" y="1517904"/>
            <a:ext cx="23484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B6EA8"/>
                </a:solidFill>
                <a:latin typeface="Calibri"/>
              </a:rPr>
              <a:t>87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1878" y="2212848"/>
            <a:ext cx="23484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53F"/>
                </a:solidFill>
                <a:latin typeface="Calibri"/>
              </a:rPr>
              <a:t>unit tests green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8" y="2542032"/>
            <a:ext cx="23484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5505B"/>
                </a:solidFill>
                <a:latin typeface="Calibri"/>
              </a:rPr>
              <a:t>the paper's printed numbers
pinned as assertions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4333" y="1298448"/>
            <a:ext cx="2604439" cy="1874519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84333" y="1298448"/>
            <a:ext cx="2604439" cy="3810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12349" y="1517904"/>
            <a:ext cx="23484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0E7C66"/>
                </a:solidFill>
                <a:latin typeface="Calibri"/>
              </a:rPr>
              <a:t>1e−4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2349" y="2212848"/>
            <a:ext cx="23484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53F"/>
                </a:solidFill>
                <a:latin typeface="Calibri"/>
              </a:rPr>
              <a:t>Python ↔ Simulink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349" y="2542032"/>
            <a:ext cx="23484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5505B"/>
                </a:solidFill>
                <a:latin typeface="Calibri"/>
              </a:rPr>
              <a:t>an independent re-derivation,
not a re-run of the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447288"/>
            <a:ext cx="11185855" cy="2825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Three criteria per certification run — theory (in-force ‖H̃‖∞ ≤ 1), time domain (per-hop L₂), and SAFETY: minimum gap on the NONLINEAR simulation, because actuator saturation sits outside the linear envelope ‖H̃‖∞ describes.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1.  The base paper reproduces EXACTLY — the credibility anchor for everything else.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2.  Its guarantee is real but THIN, and it is DELAY, not noise, that consumes the margin.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3.  A fixed design cannot survive a changing channel — and headway alone cannot save it below ρ* ≈ 1.8.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4.  The channel IS estimable online, and the estimate is conservative by construction.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5.  A calibrated risk budget is cheaper AND more honest than a worst case.</a:t>
            </a:r>
          </a:p>
          <a:p>
            <a:pPr algn="l" marL="155448" indent="-155448">
              <a:spcBef>
                <a:spcPts val="0"/>
              </a:spcBef>
              <a:spcAft>
                <a:spcPts val="250"/>
              </a:spcAft>
            </a:pPr>
            <a:r>
              <a:rPr sz="1350" b="1" i="0">
                <a:solidFill>
                  <a:srgbClr val="0E7C66"/>
                </a:solidFill>
                <a:latin typeface="Calibri"/>
              </a:rPr>
              <a:t>▪  6.  Reproducibility is the deliverable — 87 pinned tests, seeded noise, three independent backends.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